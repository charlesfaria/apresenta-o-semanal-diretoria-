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  <p:sldMasterId id="2147483689" r:id="rId2"/>
  </p:sldMasterIdLst>
  <p:notesMasterIdLst>
    <p:notesMasterId r:id="rId4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5143500" type="screen16x9"/>
  <p:notesSz cx="6858000" cy="9144000"/>
  <p:embeddedFontLst>
    <p:embeddedFont>
      <p:font typeface="Exo 2" panose="020B0604020202020204" charset="0"/>
      <p:regular r:id="rId47"/>
      <p:bold r:id="rId48"/>
      <p:italic r:id="rId49"/>
      <p:boldItalic r:id="rId50"/>
    </p:embeddedFont>
    <p:embeddedFont>
      <p:font typeface="Helvetica Neue" panose="020B0604020202020204" charset="0"/>
      <p:regular r:id="rId51"/>
      <p:bold r:id="rId52"/>
      <p:italic r:id="rId53"/>
      <p:boldItalic r:id="rId54"/>
    </p:embeddedFont>
    <p:embeddedFont>
      <p:font typeface="IBM Plex Sans" panose="020B0503050203000203" pitchFamily="34" charset="0"/>
      <p:regular r:id="rId55"/>
      <p:bold r:id="rId56"/>
      <p:italic r:id="rId57"/>
      <p:boldItalic r:id="rId58"/>
    </p:embeddedFont>
    <p:embeddedFont>
      <p:font typeface="Roboto" panose="02000000000000000000" pitchFamily="2" charset="0"/>
      <p:regular r:id="rId59"/>
      <p:bold r:id="rId60"/>
      <p:italic r:id="rId61"/>
      <p:boldItalic r:id="rId62"/>
    </p:embeddedFont>
    <p:embeddedFont>
      <p:font typeface="Trebuchet MS" panose="020B0603020202020204" pitchFamily="34" charset="0"/>
      <p:regular r:id="rId63"/>
      <p:bold r:id="rId64"/>
      <p:italic r:id="rId65"/>
      <p:boldItalic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159">
          <p15:clr>
            <a:srgbClr val="747775"/>
          </p15:clr>
        </p15:guide>
        <p15:guide id="2" pos="309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66DC17C-ED1A-4DE7-8401-A4E9825C67B9}">
  <a:tblStyle styleId="{266DC17C-ED1A-4DE7-8401-A4E9825C67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orient="horz" pos="1159"/>
        <p:guide pos="3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font" Target="fonts/font1.fntdata"/><Relationship Id="rId63" Type="http://schemas.openxmlformats.org/officeDocument/2006/relationships/font" Target="fonts/font17.fntdata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66" Type="http://schemas.openxmlformats.org/officeDocument/2006/relationships/font" Target="fonts/font20.fntdata"/><Relationship Id="rId5" Type="http://schemas.openxmlformats.org/officeDocument/2006/relationships/slide" Target="slides/slide3.xml"/><Relationship Id="rId61" Type="http://schemas.openxmlformats.org/officeDocument/2006/relationships/font" Target="fonts/font15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64" Type="http://schemas.openxmlformats.org/officeDocument/2006/relationships/font" Target="fonts/font18.fntdata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font" Target="fonts/font5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59" Type="http://schemas.openxmlformats.org/officeDocument/2006/relationships/font" Target="fonts/font13.fntdata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8.fntdata"/><Relationship Id="rId62" Type="http://schemas.openxmlformats.org/officeDocument/2006/relationships/font" Target="fonts/font16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6.fntdata"/><Relationship Id="rId60" Type="http://schemas.openxmlformats.org/officeDocument/2006/relationships/font" Target="fonts/font14.fntdata"/><Relationship Id="rId65" Type="http://schemas.openxmlformats.org/officeDocument/2006/relationships/font" Target="fonts/font1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font" Target="fonts/font4.fntdata"/><Relationship Id="rId55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arigui.lightning.force.com/lightning/r/Dashboard/01ZHY0000004piL2AQ/view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arigui.lightning.force.com/lightning/r/Report/00OHY000000JTas2AG/view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barigui.lightning.force.com/lightning/r/Report/00OHY000000KDq02AG/view" TargetMode="External"/><Relationship Id="rId4" Type="http://schemas.openxmlformats.org/officeDocument/2006/relationships/hyperlink" Target="https://barigui.lightning.force.com/lightning/r/Report/00OHY000000JfBk2AK/view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eFA5EMaKTvbCzFcIaUlJnWaaaiOg-53J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rigui.lightning.force.com/lightning/r/Dashboard/01ZHY0000004piL2AQ/view?queryScope=userFolders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eFA5EMaKTvbCzFcIaUlJnWaaaiOg-53J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rigui.lightning.force.com/lightning/r/Dashboard/01ZHY0000004piL2AQ/view?queryScope=userFolders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eFA5EMaKTvbCzFcIaUlJnWaaaiOg-53J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rigui.lightning.force.com/lightning/r/Dashboard/01ZHY0000004piL2AQ/view?queryScope=userFolders" TargetMode="Externa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eFA5EMaKTvbCzFcIaUlJnWaaaiOg-53J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rigui.lightning.force.com/lightning/r/Dashboard/01ZHY0000004piL2AQ/view?queryScope=userFolders" TargetMode="Externa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QI0B6z67ML-QcwFvuwHfaN2OI6W_9OsZabMLdDZgDqU/edit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arigui.lightning.force.com/lightning/r/Dashboard/01ZHY0000005NHk2AM/view" TargetMode="External"/><Relationship Id="rId5" Type="http://schemas.openxmlformats.org/officeDocument/2006/relationships/hyperlink" Target="https://docs.google.com/spreadsheets/d/1cqVUtRvAbkNsjOo-jAnHDLkd7jijUnNLrMRkDYMdl2Y/edit#gid=925633073" TargetMode="External"/><Relationship Id="rId4" Type="http://schemas.openxmlformats.org/officeDocument/2006/relationships/hyperlink" Target="https://barigui.lightning.force.com/lightning/r/Report/00OTT000001Go9x2AC/view?queryScope=userFolders" TargetMode="Externa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eFA5EMaKTvbCzFcIaUlJnWaaaiOg-53J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rigui.lightning.force.com/lightning/r/Dashboard/01ZHY0000004piL2AQ/view?queryScope=userFolders" TargetMode="Externa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eFA5EMaKTvbCzFcIaUlJnWaaaiOg-53J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rigui.lightning.force.com/lightning/r/Dashboard/01ZHY0000004piL2AQ/view?queryScope=userFolders" TargetMode="Externa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eFA5EMaKTvbCzFcIaUlJnWaaaiOg-53J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rigui.lightning.force.com/lightning/r/Dashboard/01ZHY0000004piL2AQ/view?queryScope=userFolders" TargetMode="Externa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eFA5EMaKTvbCzFcIaUlJnWaaaiOg-53J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rigui.lightning.force.com/lightning/r/Dashboard/01ZHY0000004piL2AQ/view?queryScope=userFolders" TargetMode="Externa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QI0B6z67ML-QcwFvuwHfaN2OI6W_9OsZabMLdDZgDqU/edit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arigui.lightning.force.com/lightning/r/Dashboard/01ZHY0000005NHk2AM/view" TargetMode="External"/><Relationship Id="rId5" Type="http://schemas.openxmlformats.org/officeDocument/2006/relationships/hyperlink" Target="https://docs.google.com/spreadsheets/d/1cqVUtRvAbkNsjOo-jAnHDLkd7jijUnNLrMRkDYMdl2Y/edit#gid=925633073" TargetMode="External"/><Relationship Id="rId4" Type="http://schemas.openxmlformats.org/officeDocument/2006/relationships/hyperlink" Target="https://barigui.lightning.force.com/lightning/r/Report/00OTT000001Go9x2AC/view?queryScope=userFolders" TargetMode="Externa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eFA5EMaKTvbCzFcIaUlJnWaaaiOg-53J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rigui.lightning.force.com/lightning/r/Dashboard/01ZHY0000004piL2AQ/view?queryScope=userFolders" TargetMode="Externa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eFA5EMaKTvbCzFcIaUlJnWaaaiOg-53J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rigui.lightning.force.com/lightning/r/Dashboard/01ZHY0000004piL2AQ/view?queryScope=userFolders" TargetMode="Externa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eFA5EMaKTvbCzFcIaUlJnWaaaiOg-53J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rigui.lightning.force.com/lightning/r/Dashboard/01ZHY0000004piL2AQ/view?queryScope=userFolders" TargetMode="Externa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eFA5EMaKTvbCzFcIaUlJnWaaaiOg-53J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rigui.lightning.force.com/lightning/r/Dashboard/01ZHY0000004piL2AQ/view?queryScope=userFolders" TargetMode="Externa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QI0B6z67ML-QcwFvuwHfaN2OI6W_9OsZabMLdDZgDqU/edit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arigui.lightning.force.com/lightning/r/Dashboard/01ZHY0000005NHk2AM/view" TargetMode="External"/><Relationship Id="rId5" Type="http://schemas.openxmlformats.org/officeDocument/2006/relationships/hyperlink" Target="https://docs.google.com/spreadsheets/d/1cqVUtRvAbkNsjOo-jAnHDLkd7jijUnNLrMRkDYMdl2Y/edit#gid=925633073" TargetMode="External"/><Relationship Id="rId4" Type="http://schemas.openxmlformats.org/officeDocument/2006/relationships/hyperlink" Target="https://barigui.lightning.force.com/lightning/r/Report/00OTT000001Go9x2AC/view?queryScope=userFolders" TargetMode="Externa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eFA5EMaKTvbCzFcIaUlJnWaaaiOg-53J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rigui.lightning.force.com/lightning/r/Dashboard/01ZHY0000004piL2AQ/view?queryScope=userFolders" TargetMode="Externa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eFA5EMaKTvbCzFcIaUlJnWaaaiOg-53J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rigui.lightning.force.com/lightning/r/Dashboard/01ZHY0000004piL2AQ/view?queryScope=userFolders" TargetMode="Externa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eFA5EMaKTvbCzFcIaUlJnWaaaiOg-53J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rigui.lightning.force.com/lightning/r/Dashboard/01ZHY0000004piL2AQ/view?queryScope=userFolders" TargetMode="Externa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eFA5EMaKTvbCzFcIaUlJnWaaaiOg-53J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rigui.lightning.force.com/lightning/r/Dashboard/01ZHY0000004piL2AQ/view?queryScope=userFolders" TargetMode="Externa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QI0B6z67ML-QcwFvuwHfaN2OI6W_9OsZabMLdDZgDqU/edit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arigui.lightning.force.com/lightning/r/Dashboard/01ZHY0000005NHk2AM/view" TargetMode="External"/><Relationship Id="rId5" Type="http://schemas.openxmlformats.org/officeDocument/2006/relationships/hyperlink" Target="https://docs.google.com/spreadsheets/d/1cqVUtRvAbkNsjOo-jAnHDLkd7jijUnNLrMRkDYMdl2Y/edit#gid=925633073" TargetMode="External"/><Relationship Id="rId4" Type="http://schemas.openxmlformats.org/officeDocument/2006/relationships/hyperlink" Target="https://barigui.lightning.force.com/lightning/r/Report/00OTT000001Go9x2AC/view?queryScope=userFolders" TargetMode="Externa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QI0B6z67ML-QcwFvuwHfaN2OI6W_9OsZabMLdDZgDqU/edit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arigui.lightning.force.com/lightning/r/Dashboard/01ZHY0000005NHk2AM/view" TargetMode="External"/><Relationship Id="rId5" Type="http://schemas.openxmlformats.org/officeDocument/2006/relationships/hyperlink" Target="https://docs.google.com/spreadsheets/d/1cqVUtRvAbkNsjOo-jAnHDLkd7jijUnNLrMRkDYMdl2Y/edit#gid=925633073" TargetMode="External"/><Relationship Id="rId4" Type="http://schemas.openxmlformats.org/officeDocument/2006/relationships/hyperlink" Target="https://barigui.lightning.force.com/lightning/r/Report/00OTT000001Go9x2AC/view?queryScope=userFolders" TargetMode="Externa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402a975d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" y="1219200"/>
            <a:ext cx="4572000" cy="6096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1402a975d12_0_0:notes"/>
          <p:cNvSpPr txBox="1">
            <a:spLocks noGrp="1"/>
          </p:cNvSpPr>
          <p:nvPr>
            <p:ph type="body" idx="1"/>
          </p:nvPr>
        </p:nvSpPr>
        <p:spPr>
          <a:xfrm>
            <a:off x="514350" y="7721600"/>
            <a:ext cx="4114800" cy="73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pt-BR">
                <a:highlight>
                  <a:srgbClr val="FFFF00"/>
                </a:highlight>
              </a:rPr>
              <a:t>Revisar título: mês escrito e numérico</a:t>
            </a:r>
            <a:endParaRPr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3713e0b495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3713e0b495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166c5f1d3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141" y="686475"/>
            <a:ext cx="6585600" cy="34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39166c5f1d3_2_0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Thaís</a:t>
            </a:r>
            <a:endParaRPr/>
          </a:p>
        </p:txBody>
      </p:sp>
      <p:sp>
        <p:nvSpPr>
          <p:cNvPr id="204" name="Google Shape;204;g39166c5f1d3_2_0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3</a:t>
            </a:fld>
            <a:endParaRPr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166c5f1d3_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141" y="686475"/>
            <a:ext cx="6585600" cy="34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39166c5f1d3_2_11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Thaís</a:t>
            </a:r>
            <a:endParaRPr/>
          </a:p>
        </p:txBody>
      </p:sp>
      <p:sp>
        <p:nvSpPr>
          <p:cNvPr id="216" name="Google Shape;216;g39166c5f1d3_2_11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4</a:t>
            </a:fld>
            <a:endParaRPr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166c5f1d3_2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166c5f1d3_2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Thais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eb3f370a2a_2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eb3f370a2a_2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/>
              <a:t>Damaris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89374d69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89374d69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Time de Ops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Pegar no painel: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https://barigui.lightning.force.com/lightning/r/Dashboard/01ZHY0000004piL2AQ/view</a:t>
            </a:r>
            <a:endParaRPr u="sng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89374d690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89374d6902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/>
              <a:t>Time de Ops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Link Relatórios Salesforce.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B2C: </a:t>
            </a:r>
            <a:r>
              <a:rPr lang="pt-BR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https://barigui.lightning.force.com/lightning/r/Report/00OHY000000JTas2AG/view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PCs: </a:t>
            </a:r>
            <a:r>
              <a:rPr lang="pt-BR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https://barigui.lightning.force.com/lightning/r/Report/00OHY000000JfBk2AK/view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GPs: </a:t>
            </a:r>
            <a:r>
              <a:rPr lang="pt-BR" u="sng">
                <a:solidFill>
                  <a:srgbClr val="1155CC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https://barigui.lightning.force.com/lightning/r/Report/00OHY000000KDq02AG/view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54ff892e7d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30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g354ff892e7d_2_0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Revisar datas escritas e numéricas </a:t>
            </a: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Time de Ops - buscar na pasta: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https://drive.google.com/drive/folders/1eFA5EMaKTvbCzFcIaUlJnWaaaiOg-53J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AQUI É O PRINT DE </a:t>
            </a:r>
            <a:r>
              <a:rPr lang="pt-BR" sz="1050" b="1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TUDO DO CANAL B2C</a:t>
            </a:r>
            <a:endParaRPr sz="1050" b="1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Consultar o funil de vendas: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https://barigui.lightning.force.com/lightning/r/Dashboard/01ZHY0000004piL2AQ/view?queryScope=userFolders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b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</a:b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g354ff892e7d_2_0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9</a:t>
            </a:fld>
            <a:endParaRPr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54ff892e7d_2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30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g354ff892e7d_2_14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Revisar datas escritas e numéricas </a:t>
            </a: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Time de Ops - buscar na pasta: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https://drive.google.com/drive/folders/1eFA5EMaKTvbCzFcIaUlJnWaaaiOg-53J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AQUI É O PRINT DE </a:t>
            </a:r>
            <a:r>
              <a:rPr lang="pt-BR" sz="1050" b="1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TUDO DO CANAL B2C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Consultar o funil de vendas: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https://barigui.lightning.force.com/lightning/r/Dashboard/01ZHY0000004piL2AQ/view?queryScope=userFolders</a:t>
            </a:r>
            <a:b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</a:b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" name="Google Shape;407;g354ff892e7d_2_14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10</a:t>
            </a:fld>
            <a:endParaRPr sz="1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54ff892e7d_2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30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g354ff892e7d_2_28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Revisar datas escritas e numéricas </a:t>
            </a: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Time de Ops - buscar na pasta: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https://drive.google.com/drive/folders/1eFA5EMaKTvbCzFcIaUlJnWaaaiOg-53J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AQUI É O PRINT DE SÓ DE </a:t>
            </a:r>
            <a:r>
              <a:rPr lang="pt-BR" sz="1050" b="1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NOVOS CONTRATOS DO CANAL B2C</a:t>
            </a:r>
            <a:endParaRPr sz="1050" b="1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Consultar o funil de vendas SEM DERIVADOS: 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https://barigui.lightning.force.com/lightning/r/Dashboard/01ZHY0000004piL2AQ/view?queryScope=userFolders</a:t>
            </a:r>
            <a:b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</a:b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g354ff892e7d_2_28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11</a:t>
            </a:fld>
            <a:endParaRPr sz="13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54ff892e7d_2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30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6" name="Google Shape;436;g354ff892e7d_2_42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Revisar datas escritas e numéricas </a:t>
            </a: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Time de Ops - buscar na pasta: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https://drive.google.com/drive/folders/1eFA5EMaKTvbCzFcIaUlJnWaaaiOg-53J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AQUI É O PRINT DE SÓ DE </a:t>
            </a:r>
            <a:r>
              <a:rPr lang="pt-BR" sz="1050" b="1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NOVOS CONTRATOS DO CANAL B2C</a:t>
            </a:r>
            <a:endParaRPr sz="1050" b="1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Consultar o funil de vendas SEM DERIVADOS: 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https://barigui.lightning.force.com/lightning/r/Dashboard/01ZHY0000004piL2AQ/view?queryScope=userFolders</a:t>
            </a:r>
            <a:b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</a:b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g354ff892e7d_2_42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12</a:t>
            </a:fld>
            <a:endParaRPr sz="13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54ff892e7d_2_5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/>
              <a:t>Time de Sales ops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Roteiro para preenchimento da planilha: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https://docs.google.com/document/d/1QI0B6z67ML-QcwFvuwHfaN2OI6W_9OsZabMLdDZgDqU/edit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Pegar dados aqui: </a:t>
            </a:r>
            <a:r>
              <a:rPr lang="pt-BR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https://barigui.lightning.force.com/lightning/r/Report/00OTT000001Go9x2AC/view?queryScope=userFolders</a:t>
            </a:r>
            <a:endParaRPr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Usar essa base para os prints: </a:t>
            </a:r>
            <a:r>
              <a:rPr lang="pt-BR" u="sng">
                <a:solidFill>
                  <a:schemeClr val="hlink"/>
                </a:solidFill>
                <a:hlinkClick r:id="rId5"/>
              </a:rPr>
              <a:t>https://docs.google.com/spreadsheets/d/1cqVUtRvAbkNsjOo-jAnHDLkd7jijUnNLrMRkDYMdl2Y/edit#gid=925633073</a:t>
            </a:r>
            <a:br>
              <a:rPr lang="pt-BR"/>
            </a:br>
            <a:r>
              <a:rPr lang="pt-BR"/>
              <a:t>-&gt; Conferir os dias úteis das semanas do mês</a:t>
            </a:r>
            <a:br>
              <a:rPr lang="pt-BR"/>
            </a:br>
            <a:r>
              <a:rPr lang="pt-BR"/>
              <a:t>-&gt; Conferir data que será comparada com o mês passado</a:t>
            </a:r>
            <a:br>
              <a:rPr lang="pt-BR"/>
            </a:br>
            <a:r>
              <a:rPr lang="pt-BR"/>
              <a:t>-&gt; Nas abas B2C, PC, Passa pelo closer e Direto middle atualizar fonte de dados com relatórios do SF.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/>
            </a:br>
            <a:r>
              <a:rPr lang="pt-BR"/>
              <a:t>Usar essa base para conferência:  </a:t>
            </a:r>
            <a:r>
              <a:rPr lang="pt-BR" u="sng">
                <a:solidFill>
                  <a:schemeClr val="hlink"/>
                </a:solidFill>
                <a:hlinkClick r:id="rId6"/>
              </a:rPr>
              <a:t>https://barigui.lightning.force.com/lightning/r/Dashboard/01ZHY0000005NHk2AM/view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451" name="Google Shape;451;g354ff892e7d_2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54ff892e7d_2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30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3" name="Google Shape;463;g354ff892e7d_2_78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Revisar datas escritas e numéricas </a:t>
            </a: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Time de Ops - buscar na pasta: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https://drive.google.com/drive/folders/1eFA5EMaKTvbCzFcIaUlJnWaaaiOg-53J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AQUI É O PRINT DE </a:t>
            </a:r>
            <a:r>
              <a:rPr lang="pt-BR" sz="1050" b="1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TUDO DO CANAL GP</a:t>
            </a:r>
            <a:endParaRPr sz="1050" b="1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Consultar o funil de vendas: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https://barigui.lightning.force.com/lightning/r/Dashboard/01ZHY0000004piL2AQ/view?queryScope=userFolders</a:t>
            </a:r>
            <a:b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</a:b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114 - 07/07</a:t>
            </a: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g354ff892e7d_2_78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14</a:t>
            </a:fld>
            <a:endParaRPr sz="1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54ff892e7d_2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30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g354ff892e7d_2_92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Revisar datas escritas e numéricas </a:t>
            </a: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Time de Ops - buscar na pasta: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https://drive.google.com/drive/folders/1eFA5EMaKTvbCzFcIaUlJnWaaaiOg-53J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AQUI É O PRINT DE </a:t>
            </a:r>
            <a:r>
              <a:rPr lang="pt-BR" sz="1050" b="1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TUDO DO CANAL GP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Consultar o funil de vendas: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https://barigui.lightning.force.com/lightning/r/Dashboard/01ZHY0000004piL2AQ/view?queryScope=userFolders</a:t>
            </a:r>
            <a:b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</a:b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g354ff892e7d_2_92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15</a:t>
            </a:fld>
            <a:endParaRPr sz="1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54ff892e7d_2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30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g354ff892e7d_2_106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Revisar datas escritas e numéricas </a:t>
            </a: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Time de Ops - buscar na pasta: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https://drive.google.com/drive/folders/1eFA5EMaKTvbCzFcIaUlJnWaaaiOg-53J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AQUI É O PRINT SÓ DE </a:t>
            </a:r>
            <a:r>
              <a:rPr lang="pt-BR" sz="1050" b="1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NOVOS CONTRATOS DO CANAL GP</a:t>
            </a:r>
            <a:endParaRPr sz="1050" b="1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Consultar o funil de vendas SEM DERIVADOS: 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https://barigui.lightning.force.com/lightning/r/Dashboard/01ZHY0000004piL2AQ/view?queryScope=userFolders</a:t>
            </a:r>
            <a:b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</a:b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g354ff892e7d_2_106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16</a:t>
            </a:fld>
            <a:endParaRPr sz="13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54ff892e7d_2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30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8" name="Google Shape;508;g354ff892e7d_2_120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Revisar datas escritas e numéricas </a:t>
            </a: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Time de Ops - buscar na pasta: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https://drive.google.com/drive/folders/1eFA5EMaKTvbCzFcIaUlJnWaaaiOg-53J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AQUI É O PRINT SÓ DE </a:t>
            </a:r>
            <a:r>
              <a:rPr lang="pt-BR" sz="1050" b="1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NOVOS CONTRATOS DO CANAL GP</a:t>
            </a:r>
            <a:endParaRPr sz="1050" b="1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Consultar o funil de vendas SEM DERIVADOS: 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https://barigui.lightning.force.com/lightning/r/Dashboard/01ZHY0000004piL2AQ/view?queryScope=userFolders</a:t>
            </a:r>
            <a:b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</a:b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g354ff892e7d_2_120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17</a:t>
            </a:fld>
            <a:endParaRPr sz="13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54ff892e7d_2_13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Time de Sales ops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Roteiro para preenchimento da planilha: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https://docs.google.com/document/d/1QI0B6z67ML-QcwFvuwHfaN2OI6W_9OsZabMLdDZgDqU/edit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Pegar dados aqui: </a:t>
            </a:r>
            <a:r>
              <a:rPr lang="pt-BR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https://barigui.lightning.force.com/lightning/r/Report/00OTT000001Go9x2AC/view?queryScope=userFolders</a:t>
            </a:r>
            <a:endParaRPr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Usar essa base para os prints: </a:t>
            </a:r>
            <a:r>
              <a:rPr lang="pt-BR" u="sng">
                <a:solidFill>
                  <a:schemeClr val="hlink"/>
                </a:solidFill>
                <a:hlinkClick r:id="rId5"/>
              </a:rPr>
              <a:t>https://docs.google.com/spreadsheets/d/1cqVUtRvAbkNsjOo-jAnHDLkd7jijUnNLrMRkDYMdl2Y/edit#gid=925633073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-&gt; Conferir os dias úteis das semanas do mês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-&gt; Conferir data que será comparada com o mês passado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-&gt; Nas abas B2C, PC, Passa pelo closer e Direto middle atualizar fonte de dados com relatórios do SF.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Usar essa base para conferência:  </a:t>
            </a:r>
            <a:r>
              <a:rPr lang="pt-BR" u="sng">
                <a:solidFill>
                  <a:schemeClr val="hlink"/>
                </a:solidFill>
                <a:hlinkClick r:id="rId6"/>
              </a:rPr>
              <a:t>https://barigui.lightning.force.com/lightning/r/Dashboard/01ZHY0000005NHk2AM/view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23" name="Google Shape;523;g354ff892e7d_2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54ff892e7d_2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30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5" name="Google Shape;535;g354ff892e7d_2_168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Revisar datas escritas e numéricas </a:t>
            </a: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Time de Ops - buscar na pasta: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https://drive.google.com/drive/folders/1eFA5EMaKTvbCzFcIaUlJnWaaaiOg-53J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AQUI É O PRINT DE </a:t>
            </a:r>
            <a:r>
              <a:rPr lang="pt-BR" sz="1050" b="1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TUDO DO CANAL PC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Consultar o funil de vendas 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https://barigui.lightning.force.com/lightning/r/Dashboard/01ZHY0000004piL2AQ/view?queryScope=userFolders</a:t>
            </a:r>
            <a:b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</a:b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" name="Google Shape;536;g354ff892e7d_2_168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19</a:t>
            </a:fld>
            <a:endParaRPr sz="13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54ff892e7d_2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30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1" name="Google Shape;551;g354ff892e7d_2_184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Revisar datas escritas e numéricas </a:t>
            </a: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Time de Ops - buscar na pasta: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https://drive.google.com/drive/folders/1eFA5EMaKTvbCzFcIaUlJnWaaaiOg-53J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AQUI É O PRINT DE </a:t>
            </a:r>
            <a:r>
              <a:rPr lang="pt-BR" sz="1050" b="1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TUDO DO CANAL PC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Consultar o funil de vendas 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https://barigui.lightning.force.com/lightning/r/Dashboard/01ZHY0000004piL2AQ/view?queryScope=userFolders</a:t>
            </a:r>
            <a:b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</a:b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g354ff892e7d_2_184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20</a:t>
            </a:fld>
            <a:endParaRPr sz="13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54ff892e7d_2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30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g354ff892e7d_2_199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Revisar datas escritas e numéricas </a:t>
            </a: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Time de Ops - buscar na pasta: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https://drive.google.com/drive/folders/1eFA5EMaKTvbCzFcIaUlJnWaaaiOg-53J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AQUI É O PRINT SÓ DE </a:t>
            </a:r>
            <a:r>
              <a:rPr lang="pt-BR" sz="1050" b="1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NOVOS CONTRATOS DO CANAL PC</a:t>
            </a:r>
            <a:endParaRPr sz="1050" b="1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Consultar o funil de vendas SEM DERIVADOS: 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https://barigui.lightning.force.com/lightning/r/Dashboard/01ZHY0000004piL2AQ/view?queryScope=userFolders</a:t>
            </a:r>
            <a:b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</a:b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g354ff892e7d_2_199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21</a:t>
            </a:fld>
            <a:endParaRPr sz="13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54ff892e7d_2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30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2" name="Google Shape;582;g354ff892e7d_2_214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Revisar datas escritas e numéricas </a:t>
            </a: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Time de Ops - buscar na pasta: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https://drive.google.com/drive/folders/1eFA5EMaKTvbCzFcIaUlJnWaaaiOg-53J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AQUI É O PRINT SÓ DE </a:t>
            </a:r>
            <a:r>
              <a:rPr lang="pt-BR" sz="1050" b="1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NOVOS CONTRATOS DO CANAL PC</a:t>
            </a:r>
            <a:endParaRPr sz="1050" b="1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Consultar o funil de vendas SEM DERIVADOS: 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https://barigui.lightning.force.com/lightning/r/Dashboard/01ZHY0000004piL2AQ/view?queryScope=userFolders</a:t>
            </a:r>
            <a:b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</a:b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3" name="Google Shape;583;g354ff892e7d_2_214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22</a:t>
            </a:fld>
            <a:endParaRPr sz="13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54ff892e7d_2_2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Time de Sales ops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Roteiro para preenchimento da planilha: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https://docs.google.com/document/d/1QI0B6z67ML-QcwFvuwHfaN2OI6W_9OsZabMLdDZgDqU/edit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Pegar dados aqui: </a:t>
            </a:r>
            <a:r>
              <a:rPr lang="pt-BR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https://barigui.lightning.force.com/lightning/r/Report/00OTT000001Go9x2AC/view?queryScope=userFolders</a:t>
            </a:r>
            <a:endParaRPr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Usar essa base para os prints: </a:t>
            </a:r>
            <a:r>
              <a:rPr lang="pt-BR" u="sng">
                <a:solidFill>
                  <a:schemeClr val="hlink"/>
                </a:solidFill>
                <a:hlinkClick r:id="rId5"/>
              </a:rPr>
              <a:t>https://docs.google.com/spreadsheets/d/1cqVUtRvAbkNsjOo-jAnHDLkd7jijUnNLrMRkDYMdl2Y/edit#gid=925633073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-&gt; Conferir os dias úteis das semanas do mês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-&gt; Conferir data que será comparada com o mês passado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-&gt; Nas abas B2C, PC, Passa pelo closer e Direto middle atualizar fonte de dados com relatórios do SF.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Usar essa base para conferência:  </a:t>
            </a:r>
            <a:r>
              <a:rPr lang="pt-BR" u="sng">
                <a:solidFill>
                  <a:schemeClr val="hlink"/>
                </a:solidFill>
                <a:hlinkClick r:id="rId6"/>
              </a:rPr>
              <a:t>https://barigui.lightning.force.com/lightning/r/Dashboard/01ZHY0000005NHk2AM/view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98" name="Google Shape;598;g354ff892e7d_2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54ff892e7d_2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30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0" name="Google Shape;610;g354ff892e7d_2_251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Revisar datas escritas e numéricas </a:t>
            </a: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Time de Ops - buscar na pasta: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https://drive.google.com/drive/folders/1eFA5EMaKTvbCzFcIaUlJnWaaaiOg-53J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AQUI É O PRINT TUDO DO </a:t>
            </a:r>
            <a:r>
              <a:rPr lang="pt-BR" sz="1050" b="1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COMERCIAL SEM RELACIONAMENTO</a:t>
            </a:r>
            <a:endParaRPr sz="1050" b="1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Consultar o funil de vendas 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https://barigui.lightning.force.com/lightning/r/Dashboard/01ZHY0000004piL2AQ/view?queryScope=userFolders</a:t>
            </a:r>
            <a:b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</a:b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" name="Google Shape;611;g354ff892e7d_2_251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24</a:t>
            </a:fld>
            <a:endParaRPr sz="13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54ff892e7d_2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30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5" name="Google Shape;625;g354ff892e7d_2_265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Revisar datas escritas e numéricas </a:t>
            </a: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Time de Ops - buscar na pasta: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https://drive.google.com/drive/folders/1eFA5EMaKTvbCzFcIaUlJnWaaaiOg-53J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AQUI É O PRINT TUDO DO </a:t>
            </a:r>
            <a:r>
              <a:rPr lang="pt-BR" sz="1050" b="1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COMERCIAL SEM RELACIONAMENTO</a:t>
            </a:r>
            <a:endParaRPr sz="1050" b="1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Consultar o funil de vendas 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https://barigui.lightning.force.com/lightning/r/Dashboard/01ZHY0000004piL2AQ/view?queryScope=userFolders</a:t>
            </a:r>
            <a:b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</a:b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g354ff892e7d_2_265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25</a:t>
            </a:fld>
            <a:endParaRPr sz="13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54ff892e7d_2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30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0" name="Google Shape;640;g354ff892e7d_2_280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Revisar datas escritas e numéricas </a:t>
            </a: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Time de Ops - buscar na pasta: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https://drive.google.com/drive/folders/1eFA5EMaKTvbCzFcIaUlJnWaaaiOg-53J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AQUI É O PRINT SÓ DE </a:t>
            </a:r>
            <a:r>
              <a:rPr lang="pt-BR" sz="1050" b="1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NOVOS CONTRATOS DE TODOS CANAIS SEM RELACIONAMENTO</a:t>
            </a:r>
            <a:endParaRPr sz="1050" b="1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Consultar o funil de vendas SEM DERIVADOS: 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https://barigui.lightning.force.com/lightning/r/Dashboard/01ZHY0000004piL2AQ/view?queryScope=userFolders</a:t>
            </a:r>
            <a:b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</a:b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g354ff892e7d_2_280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26</a:t>
            </a:fld>
            <a:endParaRPr sz="13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54ff892e7d_2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30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5" name="Google Shape;655;g354ff892e7d_2_294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Revisar datas escritas e numéricas </a:t>
            </a: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Time de Ops - buscar na pasta: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https://drive.google.com/drive/folders/1eFA5EMaKTvbCzFcIaUlJnWaaaiOg-53J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AQUI É O PRINT SÓ DE </a:t>
            </a:r>
            <a:r>
              <a:rPr lang="pt-BR" sz="1050" b="1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NOVOS CONTRATOS DE TODOS CANAIS SEM RELACIONAMENTO</a:t>
            </a:r>
            <a:endParaRPr sz="1050" b="1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Consultar o funil de vendas SEM DERIVADOS:  </a:t>
            </a:r>
            <a:r>
              <a:rPr lang="pt-BR" sz="105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https://barigui.lightning.force.com/lightning/r/Dashboard/01ZHY0000004piL2AQ/view?queryScope=userFolders</a:t>
            </a:r>
            <a:br>
              <a:rPr lang="pt-BR" sz="105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</a:b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050">
              <a:solidFill>
                <a:srgbClr val="202124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g354ff892e7d_2_294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27</a:t>
            </a:fld>
            <a:endParaRPr sz="13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89374d6902_0_6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Time de Sales ops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Roteiro para preenchimento da planilha: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https://docs.google.com/document/d/1QI0B6z67ML-QcwFvuwHfaN2OI6W_9OsZabMLdDZgDqU/edit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Pegar dados aqui: </a:t>
            </a:r>
            <a:r>
              <a:rPr lang="pt-BR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https://barigui.lightning.force.com/lightning/r/Report/00OTT000001Go9x2AC/view?queryScope=userFolders</a:t>
            </a:r>
            <a:endParaRPr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Usar essa base para os prints: </a:t>
            </a:r>
            <a:r>
              <a:rPr lang="pt-BR" u="sng">
                <a:solidFill>
                  <a:schemeClr val="hlink"/>
                </a:solidFill>
                <a:hlinkClick r:id="rId5"/>
              </a:rPr>
              <a:t>https://docs.google.com/spreadsheets/d/1cqVUtRvAbkNsjOo-jAnHDLkd7jijUnNLrMRkDYMdl2Y/edit#gid=925633073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-&gt; Conferir os dias úteis das semanas do mês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-&gt; Conferir data que será comparada com o mês passado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-&gt; Nas abas B2C, PC, Passa pelo closer e Direto middle atualizar fonte de dados com relatórios do SF.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Usar essa base para conferência:  </a:t>
            </a:r>
            <a:r>
              <a:rPr lang="pt-BR" u="sng">
                <a:solidFill>
                  <a:schemeClr val="hlink"/>
                </a:solidFill>
                <a:hlinkClick r:id="rId6"/>
              </a:rPr>
              <a:t>https://barigui.lightning.force.com/lightning/r/Dashboard/01ZHY0000005NHk2AM/view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70" name="Google Shape;670;g389374d6902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54ff892e7d_2_30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Time de Sales ops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Roteiro para preenchimento da planilha: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https://docs.google.com/document/d/1QI0B6z67ML-QcwFvuwHfaN2OI6W_9OsZabMLdDZgDqU/edit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Pegar dados aqui: </a:t>
            </a:r>
            <a:r>
              <a:rPr lang="pt-BR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https://barigui.lightning.force.com/lightning/r/Report/00OTT000001Go9x2AC/view?queryScope=userFolders</a:t>
            </a:r>
            <a:endParaRPr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Usar essa base para os prints: </a:t>
            </a:r>
            <a:r>
              <a:rPr lang="pt-BR" u="sng">
                <a:solidFill>
                  <a:schemeClr val="hlink"/>
                </a:solidFill>
                <a:hlinkClick r:id="rId5"/>
              </a:rPr>
              <a:t>https://docs.google.com/spreadsheets/d/1cqVUtRvAbkNsjOo-jAnHDLkd7jijUnNLrMRkDYMdl2Y/edit#gid=925633073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-&gt; Conferir os dias úteis das semanas do mês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-&gt; Conferir data que será comparada com o mês passado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-&gt; Nas abas B2C, PC, Passa pelo closer e Direto middle atualizar fonte de dados com relatórios do SF.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Usar essa base para conferência:  </a:t>
            </a:r>
            <a:r>
              <a:rPr lang="pt-BR" u="sng">
                <a:solidFill>
                  <a:schemeClr val="hlink"/>
                </a:solidFill>
                <a:hlinkClick r:id="rId6"/>
              </a:rPr>
              <a:t>https://barigui.lightning.force.com/lightning/r/Dashboard/01ZHY0000005NHk2AM/view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82" name="Google Shape;682;g354ff892e7d_2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26e60aaa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141" y="686475"/>
            <a:ext cx="6585600" cy="34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4" name="Google Shape;694;g326e60aaa77_0_0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/>
              <a:t>Bruno - Engenharia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5" name="Google Shape;695;g326e60aaa77_0_0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30</a:t>
            </a:fld>
            <a:endParaRPr sz="13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e39fad9b52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141" y="686475"/>
            <a:ext cx="6585600" cy="34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8" name="Google Shape;708;g2e39fad9b52_3_1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/>
              <a:t>Bruno - Engenharia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9" name="Google Shape;709;g2e39fad9b52_3_1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31</a:t>
            </a:fld>
            <a:endParaRPr sz="13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2ed233d89a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141" y="686475"/>
            <a:ext cx="6585600" cy="34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1" name="Google Shape;721;g2ed233d89aa_0_5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Bruno - Engenharia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  <p:sp>
        <p:nvSpPr>
          <p:cNvPr id="722" name="Google Shape;722;g2ed233d89aa_0_5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32</a:t>
            </a:fld>
            <a:endParaRPr sz="13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4429de660e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141" y="686475"/>
            <a:ext cx="6585600" cy="34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4" name="Google Shape;734;g34429de660e_0_233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Bruno - Engenharia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  <p:sp>
        <p:nvSpPr>
          <p:cNvPr id="735" name="Google Shape;735;g34429de660e_0_233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33</a:t>
            </a:fld>
            <a:endParaRPr sz="13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2d207d6dc4e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141" y="686475"/>
            <a:ext cx="6585600" cy="34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7" name="Google Shape;747;g2d207d6dc4e_0_32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Bruno - Engenharia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  <p:sp>
        <p:nvSpPr>
          <p:cNvPr id="748" name="Google Shape;748;g2d207d6dc4e_0_32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34</a:t>
            </a:fld>
            <a:endParaRPr sz="13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9166c5f1d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141" y="686475"/>
            <a:ext cx="6585600" cy="34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4" name="Google Shape;764;g39166c5f1d3_0_0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/>
              <a:t>Marcella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  <p:sp>
        <p:nvSpPr>
          <p:cNvPr id="765" name="Google Shape;765;g39166c5f1d3_0_0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35</a:t>
            </a:fld>
            <a:endParaRPr sz="13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dabfcb60e8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141" y="686475"/>
            <a:ext cx="6585600" cy="34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4" name="Google Shape;774;g1dabfcb60e8_0_38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Marcella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</p:txBody>
      </p:sp>
      <p:sp>
        <p:nvSpPr>
          <p:cNvPr id="775" name="Google Shape;775;g1dabfcb60e8_0_38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36</a:t>
            </a:fld>
            <a:endParaRPr sz="13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1eb3f370a2a_2_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141" y="686475"/>
            <a:ext cx="6585600" cy="34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5" name="Google Shape;795;g1eb3f370a2a_2_433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/>
              <a:t>Marinalda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6" name="Google Shape;796;g1eb3f370a2a_2_433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37</a:t>
            </a:fld>
            <a:endParaRPr sz="13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2d2105b2c1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141" y="686475"/>
            <a:ext cx="6585600" cy="34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5" name="Google Shape;805;g2d2105b2c1e_0_5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/>
              <a:t>Marinalda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6" name="Google Shape;806;g2d2105b2c1e_0_5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38</a:t>
            </a:fld>
            <a:endParaRPr sz="13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88e137cb4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141" y="686475"/>
            <a:ext cx="6585600" cy="34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9" name="Google Shape;819;g388e137cb40_0_5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/>
              <a:t>Marinalda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0" name="Google Shape;820;g388e137cb40_0_5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39</a:t>
            </a:fld>
            <a:endParaRPr sz="13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1eb3f370a2a_2_5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/>
              <a:t>Preenchido pelo Gean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7" name="Google Shape;827;g1eb3f370a2a_2_5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430" y="1143000"/>
            <a:ext cx="54870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88e137cb4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388e137cb4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Preenchido pelo Celso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1dde9a0d614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1dde9a0d614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Preenchido pelo Celso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18331e32e80_2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141" y="686475"/>
            <a:ext cx="6585600" cy="34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3" name="Google Shape;853;g18331e32e80_2_148:notes"/>
          <p:cNvSpPr txBox="1">
            <a:spLocks noGrp="1"/>
          </p:cNvSpPr>
          <p:nvPr>
            <p:ph type="body" idx="1"/>
          </p:nvPr>
        </p:nvSpPr>
        <p:spPr>
          <a:xfrm>
            <a:off x="685802" y="434340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Preenchido pelo Celso</a:t>
            </a:r>
            <a:endParaRPr sz="1050">
              <a:solidFill>
                <a:srgbClr val="202124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4" name="Google Shape;854;g18331e32e80_2_148:notes"/>
          <p:cNvSpPr txBox="1">
            <a:spLocks noGrp="1"/>
          </p:cNvSpPr>
          <p:nvPr>
            <p:ph type="sldNum" idx="12"/>
          </p:nvPr>
        </p:nvSpPr>
        <p:spPr>
          <a:xfrm>
            <a:off x="3884620" y="868522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75" tIns="45500" rIns="90975" bIns="455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43</a:t>
            </a:fld>
            <a:endParaRPr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">
  <p:cSld name="TITLE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2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9">
  <p:cSld name="TITLE_10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2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1" name="Google Shape;10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7" name="Google Shape;107;p2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15" name="Google Shape;115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16" name="Google Shape;116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19" name="Google Shape;119;p29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20" name="Google Shape;120;p29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1">
  <p:cSld name="OBJECT_1">
    <p:bg>
      <p:bgPr>
        <a:solidFill>
          <a:schemeClr val="lt1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23" name="Google Shape;123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24" name="Google Shape;124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9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Main">
  <p:cSld name="2_Main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254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">
  <p:cSld name="TITLE_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2"/>
          <p:cNvSpPr txBox="1">
            <a:spLocks noGrp="1"/>
          </p:cNvSpPr>
          <p:nvPr>
            <p:ph type="body" idx="1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29" name="Google Shape;129;p32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2"/>
          <p:cNvSpPr txBox="1">
            <a:spLocks noGrp="1"/>
          </p:cNvSpPr>
          <p:nvPr>
            <p:ph type="body" idx="2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31" name="Google Shape;131;p32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1">
  <p:cSld name="TITLE_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3"/>
          <p:cNvSpPr txBox="1">
            <a:spLocks noGrp="1"/>
          </p:cNvSpPr>
          <p:nvPr>
            <p:ph type="body" idx="1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3"/>
          <p:cNvSpPr txBox="1">
            <a:spLocks noGrp="1"/>
          </p:cNvSpPr>
          <p:nvPr>
            <p:ph type="body" idx="2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36" name="Google Shape;136;p33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2">
  <p:cSld name="TITLE_3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>
            <a:spLocks noGrp="1"/>
          </p:cNvSpPr>
          <p:nvPr>
            <p:ph type="body" idx="1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4"/>
          <p:cNvSpPr txBox="1">
            <a:spLocks noGrp="1"/>
          </p:cNvSpPr>
          <p:nvPr>
            <p:ph type="body" idx="2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34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3">
  <p:cSld name="TITLE_4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5"/>
          <p:cNvSpPr txBox="1">
            <a:spLocks noGrp="1"/>
          </p:cNvSpPr>
          <p:nvPr>
            <p:ph type="body" idx="1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44" name="Google Shape;144;p35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5"/>
          <p:cNvSpPr txBox="1">
            <a:spLocks noGrp="1"/>
          </p:cNvSpPr>
          <p:nvPr>
            <p:ph type="body" idx="2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46" name="Google Shape;146;p35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4">
  <p:cSld name="TITLE_5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6"/>
          <p:cNvSpPr txBox="1">
            <a:spLocks noGrp="1"/>
          </p:cNvSpPr>
          <p:nvPr>
            <p:ph type="body" idx="1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49" name="Google Shape;149;p36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6"/>
          <p:cNvSpPr txBox="1">
            <a:spLocks noGrp="1"/>
          </p:cNvSpPr>
          <p:nvPr>
            <p:ph type="body" idx="2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36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5">
  <p:cSld name="TITLE_6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7"/>
          <p:cNvSpPr txBox="1">
            <a:spLocks noGrp="1"/>
          </p:cNvSpPr>
          <p:nvPr>
            <p:ph type="body" idx="1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54" name="Google Shape;154;p37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7"/>
          <p:cNvSpPr txBox="1">
            <a:spLocks noGrp="1"/>
          </p:cNvSpPr>
          <p:nvPr>
            <p:ph type="body" idx="2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37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6">
  <p:cSld name="TITLE_7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8"/>
          <p:cNvSpPr txBox="1">
            <a:spLocks noGrp="1"/>
          </p:cNvSpPr>
          <p:nvPr>
            <p:ph type="body" idx="1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59" name="Google Shape;159;p38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8"/>
          <p:cNvSpPr txBox="1">
            <a:spLocks noGrp="1"/>
          </p:cNvSpPr>
          <p:nvPr>
            <p:ph type="body" idx="2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61" name="Google Shape;161;p38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7">
  <p:cSld name="TITLE_8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 txBox="1">
            <a:spLocks noGrp="1"/>
          </p:cNvSpPr>
          <p:nvPr>
            <p:ph type="body" idx="1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1"/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39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9"/>
          <p:cNvSpPr txBox="1">
            <a:spLocks noGrp="1"/>
          </p:cNvSpPr>
          <p:nvPr>
            <p:ph type="body" idx="2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39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8">
  <p:cSld name="TITLE_9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0"/>
          <p:cNvSpPr txBox="1">
            <a:spLocks noGrp="1"/>
          </p:cNvSpPr>
          <p:nvPr>
            <p:ph type="body" idx="1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1"/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40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40"/>
          <p:cNvSpPr txBox="1">
            <a:spLocks noGrp="1"/>
          </p:cNvSpPr>
          <p:nvPr>
            <p:ph type="body" idx="2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 b="1"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40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9">
  <p:cSld name="TITLE_10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1"/>
          <p:cNvSpPr txBox="1">
            <a:spLocks noGrp="1"/>
          </p:cNvSpPr>
          <p:nvPr>
            <p:ph type="body" idx="1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41"/>
          <p:cNvSpPr txBox="1">
            <a:spLocks noGrp="1"/>
          </p:cNvSpPr>
          <p:nvPr>
            <p:ph type="body" idx="2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41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10">
  <p:cSld name="TITLE_1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2"/>
          <p:cNvSpPr txBox="1">
            <a:spLocks noGrp="1"/>
          </p:cNvSpPr>
          <p:nvPr>
            <p:ph type="body" idx="1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42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42"/>
          <p:cNvSpPr txBox="1">
            <a:spLocks noGrp="1"/>
          </p:cNvSpPr>
          <p:nvPr>
            <p:ph type="body" idx="2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42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7.xml"/><Relationship Id="rId21" Type="http://schemas.openxmlformats.org/officeDocument/2006/relationships/slideLayout" Target="../slideLayouts/slideLayout35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9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36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barigui.lightning.force.com/lightning/r/Dashboard/01ZTT0000004fUP2AY/view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43"/>
          <p:cNvPicPr preferRelativeResize="0"/>
          <p:nvPr/>
        </p:nvPicPr>
        <p:blipFill rotWithShape="1">
          <a:blip r:embed="rId3">
            <a:alphaModFix/>
          </a:blip>
          <a:srcRect l="15948" r="15955"/>
          <a:stretch/>
        </p:blipFill>
        <p:spPr>
          <a:xfrm>
            <a:off x="4432375" y="-25"/>
            <a:ext cx="4765800" cy="517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3"/>
          <p:cNvSpPr/>
          <p:nvPr/>
        </p:nvSpPr>
        <p:spPr>
          <a:xfrm>
            <a:off x="0" y="0"/>
            <a:ext cx="9198300" cy="5178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63000">
                <a:srgbClr val="000000"/>
              </a:gs>
              <a:gs pos="100000">
                <a:srgbClr val="000000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3"/>
          <p:cNvSpPr txBox="1"/>
          <p:nvPr/>
        </p:nvSpPr>
        <p:spPr>
          <a:xfrm>
            <a:off x="545406" y="1859850"/>
            <a:ext cx="5261700" cy="18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lang="pt-BR" sz="30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Reunião semanal </a:t>
            </a:r>
            <a:endParaRPr sz="3000" b="1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lang="pt-BR" sz="30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diretoria </a:t>
            </a:r>
            <a:endParaRPr sz="3000" b="1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lang="pt-BR" sz="3000" b="1">
                <a:solidFill>
                  <a:srgbClr val="00B0F0"/>
                </a:solidFill>
                <a:highlight>
                  <a:schemeClr val="dk1"/>
                </a:highlight>
                <a:latin typeface="IBM Plex Sans"/>
                <a:ea typeface="IBM Plex Sans"/>
                <a:cs typeface="IBM Plex Sans"/>
                <a:sym typeface="IBM Plex Sans"/>
              </a:rPr>
              <a:t>Março 2026</a:t>
            </a:r>
            <a:endParaRPr sz="3000" b="1">
              <a:solidFill>
                <a:srgbClr val="00B0F0"/>
              </a:solidFill>
              <a:highlight>
                <a:schemeClr val="dk1"/>
              </a:highlight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lang="pt-BR" sz="3000" b="1">
                <a:solidFill>
                  <a:srgbClr val="00B0F0"/>
                </a:solidFill>
                <a:highlight>
                  <a:schemeClr val="dk1"/>
                </a:highlight>
                <a:latin typeface="IBM Plex Sans"/>
                <a:ea typeface="IBM Plex Sans"/>
                <a:cs typeface="IBM Plex Sans"/>
                <a:sym typeface="IBM Plex Sans"/>
              </a:rPr>
              <a:t>30/03/2026</a:t>
            </a:r>
            <a:endParaRPr sz="3000" b="1">
              <a:solidFill>
                <a:srgbClr val="00B0F0"/>
              </a:solidFill>
              <a:highlight>
                <a:schemeClr val="dk1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89" name="Google Shape;189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5105" y="613725"/>
            <a:ext cx="1236151" cy="64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4"/>
          <p:cNvSpPr/>
          <p:nvPr/>
        </p:nvSpPr>
        <p:spPr>
          <a:xfrm>
            <a:off x="350100" y="4306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4"/>
          <p:cNvSpPr txBox="1"/>
          <p:nvPr/>
        </p:nvSpPr>
        <p:spPr>
          <a:xfrm>
            <a:off x="1046100" y="1101275"/>
            <a:ext cx="7240800" cy="37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90FF"/>
              </a:buClr>
              <a:buSzPts val="2100"/>
              <a:buFont typeface="IBM Plex Sans"/>
              <a:buChar char="●"/>
            </a:pPr>
            <a:r>
              <a:rPr lang="pt-BR" sz="2100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Pagamentos</a:t>
            </a:r>
            <a:endParaRPr sz="2100">
              <a:solidFill>
                <a:srgbClr val="4343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0FF"/>
              </a:buClr>
              <a:buSzPts val="2100"/>
              <a:buFont typeface="IBM Plex Sans"/>
              <a:buChar char="●"/>
            </a:pPr>
            <a:r>
              <a:rPr lang="pt-BR" sz="2100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Efetivação </a:t>
            </a:r>
            <a:endParaRPr sz="2100">
              <a:solidFill>
                <a:srgbClr val="4343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0FF"/>
              </a:buClr>
              <a:buSzPts val="2100"/>
              <a:buFont typeface="IBM Plex Sans"/>
              <a:buChar char="●"/>
            </a:pPr>
            <a:r>
              <a:rPr lang="pt-BR" sz="2100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Ticket médio e taxa média ponderada </a:t>
            </a:r>
            <a:endParaRPr sz="2100">
              <a:solidFill>
                <a:srgbClr val="4343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0FF"/>
              </a:buClr>
              <a:buSzPts val="2100"/>
              <a:buFont typeface="IBM Plex Sans"/>
              <a:buChar char="●"/>
            </a:pPr>
            <a:r>
              <a:rPr lang="pt-BR" sz="2100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Comparativo funis dos canais do imobiliário</a:t>
            </a:r>
            <a:endParaRPr sz="2100">
              <a:solidFill>
                <a:srgbClr val="4343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0FF"/>
              </a:buClr>
              <a:buSzPts val="2100"/>
              <a:buFont typeface="IBM Plex Sans"/>
              <a:buChar char="●"/>
            </a:pPr>
            <a:r>
              <a:rPr lang="pt-BR" sz="2100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Dados da esteira de vendas</a:t>
            </a:r>
            <a:endParaRPr sz="2100">
              <a:solidFill>
                <a:srgbClr val="4343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0FF"/>
              </a:buClr>
              <a:buSzPts val="2100"/>
              <a:buFont typeface="IBM Plex Sans"/>
              <a:buChar char="●"/>
            </a:pPr>
            <a:r>
              <a:rPr lang="pt-BR" sz="2100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Compra de carteira e operações estruturadas</a:t>
            </a:r>
            <a:endParaRPr sz="2100">
              <a:solidFill>
                <a:srgbClr val="4343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0FF"/>
              </a:buClr>
              <a:buSzPts val="2100"/>
              <a:buFont typeface="IBM Plex Sans"/>
              <a:buChar char="●"/>
            </a:pPr>
            <a:r>
              <a:rPr lang="pt-BR" sz="2100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Inadimplência</a:t>
            </a:r>
            <a:endParaRPr sz="2100">
              <a:solidFill>
                <a:srgbClr val="4343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1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1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4"/>
          <p:cNvSpPr txBox="1"/>
          <p:nvPr/>
        </p:nvSpPr>
        <p:spPr>
          <a:xfrm>
            <a:off x="733325" y="395425"/>
            <a:ext cx="55077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AGENDA: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97" name="Google Shape;197;p44"/>
          <p:cNvGrpSpPr/>
          <p:nvPr/>
        </p:nvGrpSpPr>
        <p:grpSpPr>
          <a:xfrm>
            <a:off x="0" y="2686781"/>
            <a:ext cx="830956" cy="2456718"/>
            <a:chOff x="0" y="7164750"/>
            <a:chExt cx="2215884" cy="6551248"/>
          </a:xfrm>
        </p:grpSpPr>
        <p:pic>
          <p:nvPicPr>
            <p:cNvPr id="198" name="Google Shape;198;p44" descr="Imagem"/>
            <p:cNvPicPr preferRelativeResize="0"/>
            <p:nvPr/>
          </p:nvPicPr>
          <p:blipFill rotWithShape="1">
            <a:blip r:embed="rId3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44" descr="Image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0" name="Google Shape;200;p44"/>
          <p:cNvSpPr txBox="1"/>
          <p:nvPr/>
        </p:nvSpPr>
        <p:spPr>
          <a:xfrm>
            <a:off x="646550" y="5041800"/>
            <a:ext cx="1541400" cy="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*Comunicação interna, material confidencial</a:t>
            </a:r>
            <a:endParaRPr sz="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5"/>
          <p:cNvSpPr/>
          <p:nvPr/>
        </p:nvSpPr>
        <p:spPr>
          <a:xfrm>
            <a:off x="646275" y="19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7" name="Google Shape;207;p45"/>
          <p:cNvGrpSpPr/>
          <p:nvPr/>
        </p:nvGrpSpPr>
        <p:grpSpPr>
          <a:xfrm>
            <a:off x="0" y="2686781"/>
            <a:ext cx="830956" cy="2456718"/>
            <a:chOff x="0" y="7164750"/>
            <a:chExt cx="2215884" cy="6551248"/>
          </a:xfrm>
        </p:grpSpPr>
        <p:pic>
          <p:nvPicPr>
            <p:cNvPr id="208" name="Google Shape;208;p45" descr="Imagem"/>
            <p:cNvPicPr preferRelativeResize="0"/>
            <p:nvPr/>
          </p:nvPicPr>
          <p:blipFill rotWithShape="1">
            <a:blip r:embed="rId3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45" descr="Image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0" name="Google Shape;210;p45"/>
          <p:cNvSpPr txBox="1"/>
          <p:nvPr/>
        </p:nvSpPr>
        <p:spPr>
          <a:xfrm>
            <a:off x="983339" y="116334"/>
            <a:ext cx="885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Efetivados Mensais: Total dos canais - Março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1" name="Google Shape;211;p45"/>
          <p:cNvSpPr txBox="1"/>
          <p:nvPr/>
        </p:nvSpPr>
        <p:spPr>
          <a:xfrm>
            <a:off x="7132575" y="5011375"/>
            <a:ext cx="1945200" cy="1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BR" sz="800" i="1"/>
              <a:t>Slide preenchido pelo time de finalização</a:t>
            </a:r>
            <a:endParaRPr sz="800" i="1"/>
          </a:p>
        </p:txBody>
      </p:sp>
      <p:pic>
        <p:nvPicPr>
          <p:cNvPr id="212" name="Google Shape;212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3356" y="668934"/>
            <a:ext cx="7853240" cy="4190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46" descr="Image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322" y="10816259"/>
            <a:ext cx="1507562" cy="15075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46"/>
          <p:cNvGrpSpPr/>
          <p:nvPr/>
        </p:nvGrpSpPr>
        <p:grpSpPr>
          <a:xfrm>
            <a:off x="0" y="2686781"/>
            <a:ext cx="830956" cy="2456718"/>
            <a:chOff x="0" y="7164750"/>
            <a:chExt cx="2215884" cy="6551248"/>
          </a:xfrm>
        </p:grpSpPr>
        <p:pic>
          <p:nvPicPr>
            <p:cNvPr id="220" name="Google Shape;220;p46" descr="Imagem"/>
            <p:cNvPicPr preferRelativeResize="0"/>
            <p:nvPr/>
          </p:nvPicPr>
          <p:blipFill rotWithShape="1">
            <a:blip r:embed="rId4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46" descr="Imagem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2" name="Google Shape;222;p46"/>
          <p:cNvSpPr/>
          <p:nvPr/>
        </p:nvSpPr>
        <p:spPr>
          <a:xfrm>
            <a:off x="646275" y="2706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6"/>
          <p:cNvSpPr txBox="1"/>
          <p:nvPr/>
        </p:nvSpPr>
        <p:spPr>
          <a:xfrm>
            <a:off x="1029899" y="202825"/>
            <a:ext cx="7927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rPr>
              <a:t>Pagamentos mensais do varejo e atacado: Total desembolsado- Março</a:t>
            </a:r>
            <a:endParaRPr sz="2000" b="1"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224" name="Google Shape;224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3356" y="1063225"/>
            <a:ext cx="7254717" cy="3927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6"/>
          <p:cNvSpPr txBox="1"/>
          <p:nvPr/>
        </p:nvSpPr>
        <p:spPr>
          <a:xfrm>
            <a:off x="1384950" y="842075"/>
            <a:ext cx="637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0000"/>
                </a:solidFill>
              </a:rPr>
              <a:t>Dados referentes a </a:t>
            </a:r>
            <a:r>
              <a:rPr lang="pt-BR" sz="1200" b="1">
                <a:solidFill>
                  <a:srgbClr val="FF0000"/>
                </a:solidFill>
              </a:rPr>
              <a:t>13/03</a:t>
            </a:r>
            <a:r>
              <a:rPr lang="pt-BR" sz="1200">
                <a:solidFill>
                  <a:srgbClr val="FF0000"/>
                </a:solidFill>
              </a:rPr>
              <a:t>. Relatório de 20/03 com erro na Prognum (em tratativa com a TI).</a:t>
            </a:r>
            <a:endParaRPr sz="1200">
              <a:solidFill>
                <a:srgbClr val="FF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7"/>
          <p:cNvSpPr/>
          <p:nvPr/>
        </p:nvSpPr>
        <p:spPr>
          <a:xfrm>
            <a:off x="578700" y="35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47"/>
          <p:cNvSpPr txBox="1"/>
          <p:nvPr/>
        </p:nvSpPr>
        <p:spPr>
          <a:xfrm>
            <a:off x="822600" y="230125"/>
            <a:ext cx="7342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Originação bruta e novos contratos - Março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59" name="Google Shape;259;p47" descr="Image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5221" y="351460"/>
            <a:ext cx="565336" cy="56533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7"/>
          <p:cNvSpPr txBox="1"/>
          <p:nvPr/>
        </p:nvSpPr>
        <p:spPr>
          <a:xfrm>
            <a:off x="960375" y="667975"/>
            <a:ext cx="4056900" cy="1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BR" sz="800" i="1"/>
              <a:t>Novos contratos, derivados e renegociação</a:t>
            </a:r>
            <a:endParaRPr sz="800" i="1"/>
          </a:p>
        </p:txBody>
      </p:sp>
      <p:sp>
        <p:nvSpPr>
          <p:cNvPr id="266" name="Google Shape;266;p47"/>
          <p:cNvSpPr txBox="1"/>
          <p:nvPr/>
        </p:nvSpPr>
        <p:spPr>
          <a:xfrm>
            <a:off x="240400" y="5015225"/>
            <a:ext cx="15786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     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8"/>
          <p:cNvSpPr/>
          <p:nvPr/>
        </p:nvSpPr>
        <p:spPr>
          <a:xfrm>
            <a:off x="566725" y="512200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8"/>
          <p:cNvSpPr txBox="1"/>
          <p:nvPr/>
        </p:nvSpPr>
        <p:spPr>
          <a:xfrm>
            <a:off x="963025" y="476925"/>
            <a:ext cx="73695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rPr>
              <a:t>Pagamentos em Protocolo</a:t>
            </a:r>
            <a:endParaRPr sz="18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91" name="Google Shape;291;p48"/>
          <p:cNvSpPr txBox="1"/>
          <p:nvPr/>
        </p:nvSpPr>
        <p:spPr>
          <a:xfrm>
            <a:off x="36950" y="1883650"/>
            <a:ext cx="14319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Contratos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2" name="Google Shape;292;p48"/>
          <p:cNvSpPr txBox="1"/>
          <p:nvPr/>
        </p:nvSpPr>
        <p:spPr>
          <a:xfrm>
            <a:off x="245300" y="2333500"/>
            <a:ext cx="10152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Valor financiado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3" name="Google Shape;293;p48"/>
          <p:cNvSpPr txBox="1"/>
          <p:nvPr/>
        </p:nvSpPr>
        <p:spPr>
          <a:xfrm>
            <a:off x="36950" y="2976788"/>
            <a:ext cx="14319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Valor Pago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4" name="Google Shape;294;p48"/>
          <p:cNvSpPr txBox="1"/>
          <p:nvPr/>
        </p:nvSpPr>
        <p:spPr>
          <a:xfrm>
            <a:off x="36950" y="3684663"/>
            <a:ext cx="14319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% Pago sem registro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5" name="Google Shape;295;p48"/>
          <p:cNvSpPr txBox="1"/>
          <p:nvPr/>
        </p:nvSpPr>
        <p:spPr>
          <a:xfrm>
            <a:off x="3572175" y="1362775"/>
            <a:ext cx="12015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5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Fevereiro	</a:t>
            </a:r>
            <a:endParaRPr sz="15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6" name="Google Shape;296;p48"/>
          <p:cNvSpPr/>
          <p:nvPr/>
        </p:nvSpPr>
        <p:spPr>
          <a:xfrm>
            <a:off x="5180850" y="1760675"/>
            <a:ext cx="1716600" cy="47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0090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solidFill>
                  <a:schemeClr val="dk1"/>
                </a:solidFill>
              </a:rPr>
              <a:t>24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297" name="Google Shape;297;p48"/>
          <p:cNvSpPr/>
          <p:nvPr/>
        </p:nvSpPr>
        <p:spPr>
          <a:xfrm>
            <a:off x="5180850" y="2368275"/>
            <a:ext cx="1716600" cy="47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0090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b="1">
                <a:solidFill>
                  <a:schemeClr val="dk1"/>
                </a:solidFill>
              </a:rPr>
              <a:t>R$12.723.763,50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298" name="Google Shape;298;p48"/>
          <p:cNvSpPr/>
          <p:nvPr/>
        </p:nvSpPr>
        <p:spPr>
          <a:xfrm>
            <a:off x="5180850" y="2975875"/>
            <a:ext cx="1716600" cy="47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0090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b="1">
                <a:solidFill>
                  <a:schemeClr val="dk1"/>
                </a:solidFill>
              </a:rPr>
              <a:t> R$ 7.317.222,63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299" name="Google Shape;299;p48"/>
          <p:cNvSpPr/>
          <p:nvPr/>
        </p:nvSpPr>
        <p:spPr>
          <a:xfrm>
            <a:off x="5149038" y="3583475"/>
            <a:ext cx="1716600" cy="47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0090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b="1">
                <a:solidFill>
                  <a:schemeClr val="dk1"/>
                </a:solidFill>
              </a:rPr>
              <a:t>57,51%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00" name="Google Shape;300;p48"/>
          <p:cNvSpPr txBox="1"/>
          <p:nvPr/>
        </p:nvSpPr>
        <p:spPr>
          <a:xfrm>
            <a:off x="5531550" y="1362775"/>
            <a:ext cx="10152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5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Março</a:t>
            </a:r>
            <a:endParaRPr sz="15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1" name="Google Shape;301;p48"/>
          <p:cNvSpPr txBox="1"/>
          <p:nvPr/>
        </p:nvSpPr>
        <p:spPr>
          <a:xfrm>
            <a:off x="7384300" y="2333500"/>
            <a:ext cx="10152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Total</a:t>
            </a:r>
            <a:endParaRPr sz="15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2" name="Google Shape;302;p48"/>
          <p:cNvSpPr/>
          <p:nvPr/>
        </p:nvSpPr>
        <p:spPr>
          <a:xfrm>
            <a:off x="6966625" y="1744625"/>
            <a:ext cx="1716600" cy="47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0090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chemeClr val="dk1"/>
                </a:solidFill>
              </a:rPr>
              <a:t>28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03" name="Google Shape;303;p48"/>
          <p:cNvSpPr/>
          <p:nvPr/>
        </p:nvSpPr>
        <p:spPr>
          <a:xfrm>
            <a:off x="6966625" y="2367075"/>
            <a:ext cx="1716600" cy="47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0090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b="1">
                <a:solidFill>
                  <a:schemeClr val="dk1"/>
                </a:solidFill>
              </a:rPr>
              <a:t>R$17.073.763,50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304" name="Google Shape;304;p48"/>
          <p:cNvSpPr/>
          <p:nvPr/>
        </p:nvSpPr>
        <p:spPr>
          <a:xfrm>
            <a:off x="6966625" y="2974675"/>
            <a:ext cx="1716600" cy="47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0090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b="1">
                <a:solidFill>
                  <a:schemeClr val="dk1"/>
                </a:solidFill>
              </a:rPr>
              <a:t>R$ 9.207.722,63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305" name="Google Shape;305;p48"/>
          <p:cNvSpPr/>
          <p:nvPr/>
        </p:nvSpPr>
        <p:spPr>
          <a:xfrm>
            <a:off x="6966625" y="3582275"/>
            <a:ext cx="1716600" cy="47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0090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b="1">
                <a:solidFill>
                  <a:schemeClr val="dk1"/>
                </a:solidFill>
              </a:rPr>
              <a:t>53,93%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306" name="Google Shape;306;p48" descr="Image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5221" y="351460"/>
            <a:ext cx="565336" cy="565336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8"/>
          <p:cNvSpPr/>
          <p:nvPr/>
        </p:nvSpPr>
        <p:spPr>
          <a:xfrm>
            <a:off x="1545675" y="1760675"/>
            <a:ext cx="1716600" cy="47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0090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b="1">
                <a:solidFill>
                  <a:schemeClr val="dk1"/>
                </a:solidFill>
              </a:rPr>
              <a:t>0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308" name="Google Shape;308;p48"/>
          <p:cNvSpPr/>
          <p:nvPr/>
        </p:nvSpPr>
        <p:spPr>
          <a:xfrm>
            <a:off x="1545675" y="2368275"/>
            <a:ext cx="1716600" cy="47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0090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b="1">
                <a:solidFill>
                  <a:schemeClr val="dk1"/>
                </a:solidFill>
              </a:rPr>
              <a:t>	    0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309" name="Google Shape;309;p48"/>
          <p:cNvSpPr/>
          <p:nvPr/>
        </p:nvSpPr>
        <p:spPr>
          <a:xfrm>
            <a:off x="1545675" y="2975875"/>
            <a:ext cx="1716600" cy="47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0090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b="1">
                <a:solidFill>
                  <a:schemeClr val="dk1"/>
                </a:solidFill>
              </a:rPr>
              <a:t>	  0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310" name="Google Shape;310;p48"/>
          <p:cNvSpPr/>
          <p:nvPr/>
        </p:nvSpPr>
        <p:spPr>
          <a:xfrm>
            <a:off x="1545675" y="3654875"/>
            <a:ext cx="1716600" cy="406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0090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b="1">
                <a:solidFill>
                  <a:schemeClr val="dk1"/>
                </a:solidFill>
              </a:rPr>
              <a:t>0%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11" name="Google Shape;311;p48"/>
          <p:cNvSpPr txBox="1"/>
          <p:nvPr/>
        </p:nvSpPr>
        <p:spPr>
          <a:xfrm>
            <a:off x="1937925" y="1362775"/>
            <a:ext cx="9321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5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Janeiro</a:t>
            </a:r>
            <a:endParaRPr sz="15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2" name="Google Shape;312;p48"/>
          <p:cNvSpPr/>
          <p:nvPr/>
        </p:nvSpPr>
        <p:spPr>
          <a:xfrm>
            <a:off x="3339100" y="1760675"/>
            <a:ext cx="1716600" cy="47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0090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b="1">
                <a:solidFill>
                  <a:schemeClr val="dk1"/>
                </a:solidFill>
              </a:rPr>
              <a:t>4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313" name="Google Shape;313;p48"/>
          <p:cNvSpPr/>
          <p:nvPr/>
        </p:nvSpPr>
        <p:spPr>
          <a:xfrm>
            <a:off x="3331450" y="2368275"/>
            <a:ext cx="1716600" cy="47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0090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b="1">
                <a:solidFill>
                  <a:schemeClr val="dk1"/>
                </a:solidFill>
              </a:rPr>
              <a:t> R$ 4.350.000,00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314" name="Google Shape;314;p48"/>
          <p:cNvSpPr/>
          <p:nvPr/>
        </p:nvSpPr>
        <p:spPr>
          <a:xfrm>
            <a:off x="3331450" y="2975875"/>
            <a:ext cx="1716600" cy="47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0090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b="1">
                <a:solidFill>
                  <a:schemeClr val="dk1"/>
                </a:solidFill>
              </a:rPr>
              <a:t> </a:t>
            </a:r>
            <a:br>
              <a:rPr lang="pt-BR" sz="1500" b="1">
                <a:solidFill>
                  <a:schemeClr val="dk1"/>
                </a:solidFill>
              </a:rPr>
            </a:br>
            <a:r>
              <a:rPr lang="pt-BR" sz="1500" b="1">
                <a:solidFill>
                  <a:schemeClr val="dk1"/>
                </a:solidFill>
              </a:rPr>
              <a:t>  R$1.890.500,00		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b="1">
              <a:solidFill>
                <a:schemeClr val="dk1"/>
              </a:solidFill>
            </a:endParaRPr>
          </a:p>
        </p:txBody>
      </p:sp>
      <p:sp>
        <p:nvSpPr>
          <p:cNvPr id="315" name="Google Shape;315;p48"/>
          <p:cNvSpPr/>
          <p:nvPr/>
        </p:nvSpPr>
        <p:spPr>
          <a:xfrm>
            <a:off x="3347363" y="3583475"/>
            <a:ext cx="1716600" cy="477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0090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b="1">
                <a:solidFill>
                  <a:schemeClr val="dk1"/>
                </a:solidFill>
              </a:rPr>
              <a:t>	 43,46%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16" name="Google Shape;316;p48"/>
          <p:cNvSpPr/>
          <p:nvPr/>
        </p:nvSpPr>
        <p:spPr>
          <a:xfrm>
            <a:off x="245300" y="4191075"/>
            <a:ext cx="3017100" cy="646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/>
              <a:t>Contratos Pg Protocolo registrados na semana: 7</a:t>
            </a:r>
            <a:endParaRPr sz="1200" b="1"/>
          </a:p>
        </p:txBody>
      </p:sp>
      <p:sp>
        <p:nvSpPr>
          <p:cNvPr id="317" name="Google Shape;317;p48"/>
          <p:cNvSpPr txBox="1"/>
          <p:nvPr/>
        </p:nvSpPr>
        <p:spPr>
          <a:xfrm>
            <a:off x="6546750" y="4454025"/>
            <a:ext cx="23184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318" name="Google Shape;318;p48"/>
          <p:cNvSpPr txBox="1"/>
          <p:nvPr/>
        </p:nvSpPr>
        <p:spPr>
          <a:xfrm>
            <a:off x="6939125" y="4565325"/>
            <a:ext cx="1716600" cy="1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Painel Registros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9"/>
          <p:cNvSpPr/>
          <p:nvPr/>
        </p:nvSpPr>
        <p:spPr>
          <a:xfrm>
            <a:off x="578700" y="35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49"/>
          <p:cNvSpPr txBox="1"/>
          <p:nvPr/>
        </p:nvSpPr>
        <p:spPr>
          <a:xfrm>
            <a:off x="822600" y="230125"/>
            <a:ext cx="7198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rPr>
              <a:t>Taxa de juros Varejo -  Março</a:t>
            </a:r>
            <a:endParaRPr sz="2000" b="1"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325" name="Google Shape;325;p49" descr="Image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5221" y="351460"/>
            <a:ext cx="565336" cy="565336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9"/>
          <p:cNvSpPr txBox="1"/>
          <p:nvPr/>
        </p:nvSpPr>
        <p:spPr>
          <a:xfrm>
            <a:off x="552200" y="669925"/>
            <a:ext cx="4464300" cy="4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Apenas novos contratos ou aditivos (sem derivadas)</a:t>
            </a:r>
            <a:endParaRPr sz="15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GERAL</a:t>
            </a:r>
            <a:endParaRPr sz="15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1"/>
          <p:cNvSpPr/>
          <p:nvPr/>
        </p:nvSpPr>
        <p:spPr>
          <a:xfrm>
            <a:off x="578700" y="35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51"/>
          <p:cNvSpPr txBox="1"/>
          <p:nvPr/>
        </p:nvSpPr>
        <p:spPr>
          <a:xfrm>
            <a:off x="822600" y="230125"/>
            <a:ext cx="719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Análise de ticket médio novos contratos - Março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379" name="Google Shape;379;p51" descr="Image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5221" y="351460"/>
            <a:ext cx="565336" cy="565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2"/>
          <p:cNvSpPr txBox="1"/>
          <p:nvPr/>
        </p:nvSpPr>
        <p:spPr>
          <a:xfrm>
            <a:off x="988175" y="116325"/>
            <a:ext cx="711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Funil de B2C - comparação mensal de volume financeiro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Comparação com a mesma semana no mês passado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7" name="Google Shape;397;p52"/>
          <p:cNvSpPr/>
          <p:nvPr/>
        </p:nvSpPr>
        <p:spPr>
          <a:xfrm>
            <a:off x="646275" y="19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8" name="Google Shape;398;p52"/>
          <p:cNvGrpSpPr/>
          <p:nvPr/>
        </p:nvGrpSpPr>
        <p:grpSpPr>
          <a:xfrm>
            <a:off x="0" y="2686781"/>
            <a:ext cx="830956" cy="2456718"/>
            <a:chOff x="0" y="7164750"/>
            <a:chExt cx="2215884" cy="6551248"/>
          </a:xfrm>
        </p:grpSpPr>
        <p:pic>
          <p:nvPicPr>
            <p:cNvPr id="399" name="Google Shape;399;p52" descr="Imagem"/>
            <p:cNvPicPr preferRelativeResize="0"/>
            <p:nvPr/>
          </p:nvPicPr>
          <p:blipFill rotWithShape="1">
            <a:blip r:embed="rId3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52" descr="Image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3"/>
          <p:cNvSpPr/>
          <p:nvPr/>
        </p:nvSpPr>
        <p:spPr>
          <a:xfrm>
            <a:off x="646275" y="19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53"/>
          <p:cNvSpPr txBox="1"/>
          <p:nvPr/>
        </p:nvSpPr>
        <p:spPr>
          <a:xfrm>
            <a:off x="988175" y="116325"/>
            <a:ext cx="7742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Funil de B2C - comparação semanal de volume financeiro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Comparação com a semana passada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413" name="Google Shape;413;p53"/>
          <p:cNvGrpSpPr/>
          <p:nvPr/>
        </p:nvGrpSpPr>
        <p:grpSpPr>
          <a:xfrm>
            <a:off x="0" y="2686781"/>
            <a:ext cx="830956" cy="2456718"/>
            <a:chOff x="0" y="7164750"/>
            <a:chExt cx="2215884" cy="6551248"/>
          </a:xfrm>
        </p:grpSpPr>
        <p:pic>
          <p:nvPicPr>
            <p:cNvPr id="414" name="Google Shape;414;p53" descr="Imagem"/>
            <p:cNvPicPr preferRelativeResize="0"/>
            <p:nvPr/>
          </p:nvPicPr>
          <p:blipFill rotWithShape="1">
            <a:blip r:embed="rId3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5" name="Google Shape;415;p53" descr="Image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54"/>
          <p:cNvGrpSpPr/>
          <p:nvPr/>
        </p:nvGrpSpPr>
        <p:grpSpPr>
          <a:xfrm>
            <a:off x="0" y="2686781"/>
            <a:ext cx="830956" cy="2456718"/>
            <a:chOff x="0" y="7164750"/>
            <a:chExt cx="2215884" cy="6551248"/>
          </a:xfrm>
        </p:grpSpPr>
        <p:pic>
          <p:nvPicPr>
            <p:cNvPr id="427" name="Google Shape;427;p54" descr="Imagem"/>
            <p:cNvPicPr preferRelativeResize="0"/>
            <p:nvPr/>
          </p:nvPicPr>
          <p:blipFill rotWithShape="1">
            <a:blip r:embed="rId3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8" name="Google Shape;428;p54" descr="Image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9" name="Google Shape;429;p54"/>
          <p:cNvSpPr/>
          <p:nvPr/>
        </p:nvSpPr>
        <p:spPr>
          <a:xfrm>
            <a:off x="646275" y="19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54"/>
          <p:cNvSpPr txBox="1"/>
          <p:nvPr/>
        </p:nvSpPr>
        <p:spPr>
          <a:xfrm>
            <a:off x="988175" y="116325"/>
            <a:ext cx="7742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Funil de B2C - comparação semanal de n.º de propostas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Comparação com a mesma semana no mês passado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5"/>
          <p:cNvSpPr/>
          <p:nvPr/>
        </p:nvSpPr>
        <p:spPr>
          <a:xfrm>
            <a:off x="646275" y="19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55"/>
          <p:cNvSpPr txBox="1"/>
          <p:nvPr/>
        </p:nvSpPr>
        <p:spPr>
          <a:xfrm>
            <a:off x="988175" y="116325"/>
            <a:ext cx="7742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Funil de B2C - comparação semanal de n.º de propostas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Comparação com a semana passada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444" name="Google Shape;444;p55"/>
          <p:cNvGrpSpPr/>
          <p:nvPr/>
        </p:nvGrpSpPr>
        <p:grpSpPr>
          <a:xfrm>
            <a:off x="0" y="2686781"/>
            <a:ext cx="830956" cy="2456718"/>
            <a:chOff x="0" y="7164750"/>
            <a:chExt cx="2215884" cy="6551248"/>
          </a:xfrm>
        </p:grpSpPr>
        <p:pic>
          <p:nvPicPr>
            <p:cNvPr id="445" name="Google Shape;445;p55" descr="Imagem"/>
            <p:cNvPicPr preferRelativeResize="0"/>
            <p:nvPr/>
          </p:nvPicPr>
          <p:blipFill rotWithShape="1">
            <a:blip r:embed="rId3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6" name="Google Shape;446;p55" descr="Image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6"/>
          <p:cNvSpPr/>
          <p:nvPr/>
        </p:nvSpPr>
        <p:spPr>
          <a:xfrm>
            <a:off x="646250" y="278250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56"/>
          <p:cNvSpPr txBox="1"/>
          <p:nvPr/>
        </p:nvSpPr>
        <p:spPr>
          <a:xfrm>
            <a:off x="1021175" y="135300"/>
            <a:ext cx="6742500" cy="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Conversão das entradas de fase B2C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Comparação com a mesma semana no mês passado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5" name="Google Shape;455;p56"/>
          <p:cNvSpPr txBox="1"/>
          <p:nvPr/>
        </p:nvSpPr>
        <p:spPr>
          <a:xfrm>
            <a:off x="4644200" y="26175"/>
            <a:ext cx="4423800" cy="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*Dados da % são referentes a oportunidades que entraram na fase, não necessariamente correspondem ao mesmo cohort</a:t>
            </a:r>
            <a:endParaRPr sz="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456" name="Google Shape;456;p56"/>
          <p:cNvGrpSpPr/>
          <p:nvPr/>
        </p:nvGrpSpPr>
        <p:grpSpPr>
          <a:xfrm>
            <a:off x="0" y="2686781"/>
            <a:ext cx="830956" cy="2456718"/>
            <a:chOff x="0" y="7164750"/>
            <a:chExt cx="2215884" cy="6551248"/>
          </a:xfrm>
        </p:grpSpPr>
        <p:pic>
          <p:nvPicPr>
            <p:cNvPr id="457" name="Google Shape;457;p56" descr="Imagem"/>
            <p:cNvPicPr preferRelativeResize="0"/>
            <p:nvPr/>
          </p:nvPicPr>
          <p:blipFill rotWithShape="1">
            <a:blip r:embed="rId3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8" name="Google Shape;458;p56" descr="Image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9" name="Google Shape;459;p56"/>
          <p:cNvSpPr/>
          <p:nvPr/>
        </p:nvSpPr>
        <p:spPr>
          <a:xfrm>
            <a:off x="2764375" y="1241825"/>
            <a:ext cx="645600" cy="9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0" name="Google Shape;460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08938" y="860775"/>
            <a:ext cx="4766979" cy="41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7"/>
          <p:cNvSpPr txBox="1"/>
          <p:nvPr/>
        </p:nvSpPr>
        <p:spPr>
          <a:xfrm>
            <a:off x="988175" y="116325"/>
            <a:ext cx="7448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Funil de grandes parcerias - comparação mensal de volume financeiro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Comparação com a mesma semana no mês passado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69" name="Google Shape;469;p57"/>
          <p:cNvSpPr/>
          <p:nvPr/>
        </p:nvSpPr>
        <p:spPr>
          <a:xfrm>
            <a:off x="646275" y="19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0" name="Google Shape;470;p57"/>
          <p:cNvGrpSpPr/>
          <p:nvPr/>
        </p:nvGrpSpPr>
        <p:grpSpPr>
          <a:xfrm>
            <a:off x="0" y="2686782"/>
            <a:ext cx="830956" cy="2456718"/>
            <a:chOff x="0" y="7164750"/>
            <a:chExt cx="2215884" cy="6551248"/>
          </a:xfrm>
        </p:grpSpPr>
        <p:pic>
          <p:nvPicPr>
            <p:cNvPr id="471" name="Google Shape;471;p57" descr="Imagem"/>
            <p:cNvPicPr preferRelativeResize="0"/>
            <p:nvPr/>
          </p:nvPicPr>
          <p:blipFill rotWithShape="1">
            <a:blip r:embed="rId3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2" name="Google Shape;472;p57" descr="Image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" name="Google Shape;483;p58"/>
          <p:cNvGrpSpPr/>
          <p:nvPr/>
        </p:nvGrpSpPr>
        <p:grpSpPr>
          <a:xfrm>
            <a:off x="0" y="2686781"/>
            <a:ext cx="830956" cy="2456718"/>
            <a:chOff x="0" y="7164750"/>
            <a:chExt cx="2215884" cy="6551248"/>
          </a:xfrm>
        </p:grpSpPr>
        <p:pic>
          <p:nvPicPr>
            <p:cNvPr id="484" name="Google Shape;484;p58" descr="Imagem"/>
            <p:cNvPicPr preferRelativeResize="0"/>
            <p:nvPr/>
          </p:nvPicPr>
          <p:blipFill rotWithShape="1">
            <a:blip r:embed="rId3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58" descr="Image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86" name="Google Shape;486;p58"/>
          <p:cNvSpPr txBox="1"/>
          <p:nvPr/>
        </p:nvSpPr>
        <p:spPr>
          <a:xfrm>
            <a:off x="988175" y="66500"/>
            <a:ext cx="7385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Funil de grandes parcerias - comparação semanal de volume financeiro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Comparação com a semana passada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87" name="Google Shape;487;p58"/>
          <p:cNvSpPr/>
          <p:nvPr/>
        </p:nvSpPr>
        <p:spPr>
          <a:xfrm>
            <a:off x="646275" y="19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oogle Shape;497;p59"/>
          <p:cNvGrpSpPr/>
          <p:nvPr/>
        </p:nvGrpSpPr>
        <p:grpSpPr>
          <a:xfrm>
            <a:off x="0" y="2686781"/>
            <a:ext cx="830956" cy="2456718"/>
            <a:chOff x="0" y="7164750"/>
            <a:chExt cx="2215884" cy="6551248"/>
          </a:xfrm>
        </p:grpSpPr>
        <p:pic>
          <p:nvPicPr>
            <p:cNvPr id="498" name="Google Shape;498;p59" descr="Imagem"/>
            <p:cNvPicPr preferRelativeResize="0"/>
            <p:nvPr/>
          </p:nvPicPr>
          <p:blipFill rotWithShape="1">
            <a:blip r:embed="rId3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9" name="Google Shape;499;p59" descr="Image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0" name="Google Shape;500;p59"/>
          <p:cNvSpPr txBox="1"/>
          <p:nvPr/>
        </p:nvSpPr>
        <p:spPr>
          <a:xfrm>
            <a:off x="988175" y="116325"/>
            <a:ext cx="7385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Funil de grandes parcerias - comparação semanal de n.º de propostas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Comparação com a mesma semana no mês passado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1" name="Google Shape;501;p59"/>
          <p:cNvSpPr/>
          <p:nvPr/>
        </p:nvSpPr>
        <p:spPr>
          <a:xfrm>
            <a:off x="646275" y="19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oogle Shape;513;p60"/>
          <p:cNvGrpSpPr/>
          <p:nvPr/>
        </p:nvGrpSpPr>
        <p:grpSpPr>
          <a:xfrm>
            <a:off x="0" y="2686781"/>
            <a:ext cx="830956" cy="2456718"/>
            <a:chOff x="0" y="7164750"/>
            <a:chExt cx="2215884" cy="6551248"/>
          </a:xfrm>
        </p:grpSpPr>
        <p:pic>
          <p:nvPicPr>
            <p:cNvPr id="514" name="Google Shape;514;p60" descr="Imagem"/>
            <p:cNvPicPr preferRelativeResize="0"/>
            <p:nvPr/>
          </p:nvPicPr>
          <p:blipFill rotWithShape="1">
            <a:blip r:embed="rId3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5" name="Google Shape;515;p60" descr="Image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6" name="Google Shape;516;p60"/>
          <p:cNvSpPr txBox="1"/>
          <p:nvPr/>
        </p:nvSpPr>
        <p:spPr>
          <a:xfrm>
            <a:off x="988175" y="116325"/>
            <a:ext cx="7385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Funil de grandes parcerias - comparação semanal de n.º de propostas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Comparação com a semana passada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17" name="Google Shape;517;p60"/>
          <p:cNvSpPr/>
          <p:nvPr/>
        </p:nvSpPr>
        <p:spPr>
          <a:xfrm>
            <a:off x="646275" y="19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1"/>
          <p:cNvSpPr/>
          <p:nvPr/>
        </p:nvSpPr>
        <p:spPr>
          <a:xfrm>
            <a:off x="461650" y="300675"/>
            <a:ext cx="2517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61"/>
          <p:cNvSpPr txBox="1"/>
          <p:nvPr/>
        </p:nvSpPr>
        <p:spPr>
          <a:xfrm>
            <a:off x="807450" y="157725"/>
            <a:ext cx="8358000" cy="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Conversão das entradas de fase grandes parcerias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Comparação com a mesma semana no mês passado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27" name="Google Shape;527;p61"/>
          <p:cNvSpPr txBox="1"/>
          <p:nvPr/>
        </p:nvSpPr>
        <p:spPr>
          <a:xfrm>
            <a:off x="4644200" y="26175"/>
            <a:ext cx="4423800" cy="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*Dados da % são referentes a oportunidades que entraram na fase, não necessariamente correspondem ao mesmo cohort</a:t>
            </a:r>
            <a:endParaRPr sz="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528" name="Google Shape;528;p61"/>
          <p:cNvGrpSpPr/>
          <p:nvPr/>
        </p:nvGrpSpPr>
        <p:grpSpPr>
          <a:xfrm>
            <a:off x="0" y="2686781"/>
            <a:ext cx="830956" cy="2456718"/>
            <a:chOff x="0" y="7164750"/>
            <a:chExt cx="2215884" cy="6551248"/>
          </a:xfrm>
        </p:grpSpPr>
        <p:pic>
          <p:nvPicPr>
            <p:cNvPr id="529" name="Google Shape;529;p61" descr="Imagem"/>
            <p:cNvPicPr preferRelativeResize="0"/>
            <p:nvPr/>
          </p:nvPicPr>
          <p:blipFill rotWithShape="1">
            <a:blip r:embed="rId3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0" name="Google Shape;530;p61" descr="Image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1" name="Google Shape;531;p61"/>
          <p:cNvSpPr/>
          <p:nvPr/>
        </p:nvSpPr>
        <p:spPr>
          <a:xfrm>
            <a:off x="2395525" y="1211075"/>
            <a:ext cx="645600" cy="9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2" name="Google Shape;532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4388" y="759575"/>
            <a:ext cx="5195224" cy="426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2"/>
          <p:cNvSpPr/>
          <p:nvPr/>
        </p:nvSpPr>
        <p:spPr>
          <a:xfrm>
            <a:off x="646275" y="19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62"/>
          <p:cNvSpPr txBox="1"/>
          <p:nvPr/>
        </p:nvSpPr>
        <p:spPr>
          <a:xfrm>
            <a:off x="988175" y="116325"/>
            <a:ext cx="8155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Funil de correspondentes bancários - comparação semanal de volume financeiro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Comparação com a mesma semana no mês passado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43" name="Google Shape;543;p62" descr="Image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5621" y="4056097"/>
            <a:ext cx="565336" cy="5653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4" name="Google Shape;544;p62"/>
          <p:cNvGrpSpPr/>
          <p:nvPr/>
        </p:nvGrpSpPr>
        <p:grpSpPr>
          <a:xfrm>
            <a:off x="0" y="2686781"/>
            <a:ext cx="830956" cy="2456718"/>
            <a:chOff x="0" y="7164750"/>
            <a:chExt cx="2215884" cy="6551248"/>
          </a:xfrm>
        </p:grpSpPr>
        <p:pic>
          <p:nvPicPr>
            <p:cNvPr id="545" name="Google Shape;545;p62" descr="Imagem"/>
            <p:cNvPicPr preferRelativeResize="0"/>
            <p:nvPr/>
          </p:nvPicPr>
          <p:blipFill rotWithShape="1">
            <a:blip r:embed="rId4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6" name="Google Shape;546;p62" descr="Imagem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3"/>
          <p:cNvSpPr/>
          <p:nvPr/>
        </p:nvSpPr>
        <p:spPr>
          <a:xfrm>
            <a:off x="646275" y="19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63"/>
          <p:cNvSpPr txBox="1"/>
          <p:nvPr/>
        </p:nvSpPr>
        <p:spPr>
          <a:xfrm>
            <a:off x="988175" y="116325"/>
            <a:ext cx="8155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Funil de correspondentes bancários - comparação semanal de volume financeiro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Comparação com a semana passada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556" name="Google Shape;556;p63"/>
          <p:cNvGrpSpPr/>
          <p:nvPr/>
        </p:nvGrpSpPr>
        <p:grpSpPr>
          <a:xfrm>
            <a:off x="0" y="2686781"/>
            <a:ext cx="830956" cy="2456718"/>
            <a:chOff x="0" y="7164750"/>
            <a:chExt cx="2215884" cy="6551248"/>
          </a:xfrm>
        </p:grpSpPr>
        <p:pic>
          <p:nvPicPr>
            <p:cNvPr id="557" name="Google Shape;557;p63" descr="Imagem"/>
            <p:cNvPicPr preferRelativeResize="0"/>
            <p:nvPr/>
          </p:nvPicPr>
          <p:blipFill rotWithShape="1">
            <a:blip r:embed="rId3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8" name="Google Shape;558;p63" descr="Image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4"/>
          <p:cNvSpPr/>
          <p:nvPr/>
        </p:nvSpPr>
        <p:spPr>
          <a:xfrm>
            <a:off x="646275" y="19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64"/>
          <p:cNvSpPr txBox="1"/>
          <p:nvPr/>
        </p:nvSpPr>
        <p:spPr>
          <a:xfrm>
            <a:off x="988175" y="116325"/>
            <a:ext cx="8155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Funil de correspondentes bancários - comparação semanal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Quantidade de propostas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Comparação com a mesma semana no mês passado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572" name="Google Shape;572;p64"/>
          <p:cNvGrpSpPr/>
          <p:nvPr/>
        </p:nvGrpSpPr>
        <p:grpSpPr>
          <a:xfrm>
            <a:off x="0" y="2686781"/>
            <a:ext cx="830956" cy="2456718"/>
            <a:chOff x="0" y="7164750"/>
            <a:chExt cx="2215884" cy="6551248"/>
          </a:xfrm>
        </p:grpSpPr>
        <p:pic>
          <p:nvPicPr>
            <p:cNvPr id="573" name="Google Shape;573;p64" descr="Imagem"/>
            <p:cNvPicPr preferRelativeResize="0"/>
            <p:nvPr/>
          </p:nvPicPr>
          <p:blipFill rotWithShape="1">
            <a:blip r:embed="rId3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4" name="Google Shape;574;p64" descr="Image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7" name="Google Shape;587;p65"/>
          <p:cNvGrpSpPr/>
          <p:nvPr/>
        </p:nvGrpSpPr>
        <p:grpSpPr>
          <a:xfrm>
            <a:off x="0" y="2686781"/>
            <a:ext cx="830956" cy="2456718"/>
            <a:chOff x="0" y="7164750"/>
            <a:chExt cx="2215884" cy="6551248"/>
          </a:xfrm>
        </p:grpSpPr>
        <p:pic>
          <p:nvPicPr>
            <p:cNvPr id="588" name="Google Shape;588;p65" descr="Imagem"/>
            <p:cNvPicPr preferRelativeResize="0"/>
            <p:nvPr/>
          </p:nvPicPr>
          <p:blipFill rotWithShape="1">
            <a:blip r:embed="rId3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9" name="Google Shape;589;p65" descr="Image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0" name="Google Shape;590;p65"/>
          <p:cNvSpPr/>
          <p:nvPr/>
        </p:nvSpPr>
        <p:spPr>
          <a:xfrm>
            <a:off x="646275" y="19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65"/>
          <p:cNvSpPr txBox="1"/>
          <p:nvPr/>
        </p:nvSpPr>
        <p:spPr>
          <a:xfrm>
            <a:off x="988175" y="116325"/>
            <a:ext cx="8155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Funil de correspondentes bancários - comparação semanal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Quantidade de propostas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Comparação com a semana passada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6"/>
          <p:cNvSpPr/>
          <p:nvPr/>
        </p:nvSpPr>
        <p:spPr>
          <a:xfrm>
            <a:off x="614050" y="300675"/>
            <a:ext cx="2517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66"/>
          <p:cNvSpPr txBox="1"/>
          <p:nvPr/>
        </p:nvSpPr>
        <p:spPr>
          <a:xfrm>
            <a:off x="986600" y="153225"/>
            <a:ext cx="7224300" cy="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Conversão das entradas de fase correspondentes bancários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Comparação com a mesma semana no mês passado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02" name="Google Shape;602;p66"/>
          <p:cNvSpPr txBox="1"/>
          <p:nvPr/>
        </p:nvSpPr>
        <p:spPr>
          <a:xfrm>
            <a:off x="4644200" y="26175"/>
            <a:ext cx="4423800" cy="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*Dados da % são referentes a oportunidades que entraram na fase, não necessariamente correspondem ao mesmo cohort</a:t>
            </a:r>
            <a:endParaRPr sz="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603" name="Google Shape;603;p66"/>
          <p:cNvGrpSpPr/>
          <p:nvPr/>
        </p:nvGrpSpPr>
        <p:grpSpPr>
          <a:xfrm>
            <a:off x="0" y="2686781"/>
            <a:ext cx="830956" cy="2456718"/>
            <a:chOff x="0" y="7164750"/>
            <a:chExt cx="2215884" cy="6551248"/>
          </a:xfrm>
        </p:grpSpPr>
        <p:pic>
          <p:nvPicPr>
            <p:cNvPr id="604" name="Google Shape;604;p66" descr="Imagem"/>
            <p:cNvPicPr preferRelativeResize="0"/>
            <p:nvPr/>
          </p:nvPicPr>
          <p:blipFill rotWithShape="1">
            <a:blip r:embed="rId3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5" name="Google Shape;605;p66" descr="Image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6" name="Google Shape;606;p66"/>
          <p:cNvSpPr/>
          <p:nvPr/>
        </p:nvSpPr>
        <p:spPr>
          <a:xfrm>
            <a:off x="2395525" y="1211075"/>
            <a:ext cx="1008300" cy="9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7" name="Google Shape;607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3375" y="946725"/>
            <a:ext cx="5830749" cy="39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7"/>
          <p:cNvSpPr txBox="1"/>
          <p:nvPr/>
        </p:nvSpPr>
        <p:spPr>
          <a:xfrm>
            <a:off x="988175" y="116325"/>
            <a:ext cx="7830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Funil comercial sem o relacionamento- comparação mensal de volume financeiro - </a:t>
            </a:r>
            <a:r>
              <a:rPr lang="pt-B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Comparação com a mesma semana no mês passado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16" name="Google Shape;616;p67"/>
          <p:cNvSpPr/>
          <p:nvPr/>
        </p:nvSpPr>
        <p:spPr>
          <a:xfrm>
            <a:off x="646275" y="19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7" name="Google Shape;617;p67"/>
          <p:cNvGrpSpPr/>
          <p:nvPr/>
        </p:nvGrpSpPr>
        <p:grpSpPr>
          <a:xfrm>
            <a:off x="0" y="2686781"/>
            <a:ext cx="830956" cy="2456718"/>
            <a:chOff x="0" y="7164750"/>
            <a:chExt cx="2215884" cy="6551248"/>
          </a:xfrm>
        </p:grpSpPr>
        <p:pic>
          <p:nvPicPr>
            <p:cNvPr id="618" name="Google Shape;618;p67" descr="Imagem"/>
            <p:cNvPicPr preferRelativeResize="0"/>
            <p:nvPr/>
          </p:nvPicPr>
          <p:blipFill rotWithShape="1">
            <a:blip r:embed="rId3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9" name="Google Shape;619;p67" descr="Image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8"/>
          <p:cNvSpPr/>
          <p:nvPr/>
        </p:nvSpPr>
        <p:spPr>
          <a:xfrm>
            <a:off x="646275" y="19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68"/>
          <p:cNvSpPr txBox="1"/>
          <p:nvPr/>
        </p:nvSpPr>
        <p:spPr>
          <a:xfrm>
            <a:off x="1005425" y="164175"/>
            <a:ext cx="7644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Funil comercial sem relacionamento- comparação semanal de volume financeiro - </a:t>
            </a:r>
            <a:r>
              <a:rPr lang="pt-B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Comparação com a semana passada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632" name="Google Shape;632;p68"/>
          <p:cNvGrpSpPr/>
          <p:nvPr/>
        </p:nvGrpSpPr>
        <p:grpSpPr>
          <a:xfrm>
            <a:off x="0" y="2686781"/>
            <a:ext cx="830956" cy="2456718"/>
            <a:chOff x="0" y="7164750"/>
            <a:chExt cx="2215884" cy="6551248"/>
          </a:xfrm>
        </p:grpSpPr>
        <p:pic>
          <p:nvPicPr>
            <p:cNvPr id="633" name="Google Shape;633;p68" descr="Imagem"/>
            <p:cNvPicPr preferRelativeResize="0"/>
            <p:nvPr/>
          </p:nvPicPr>
          <p:blipFill rotWithShape="1">
            <a:blip r:embed="rId3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4" name="Google Shape;634;p68" descr="Image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" name="Google Shape;645;p69"/>
          <p:cNvGrpSpPr/>
          <p:nvPr/>
        </p:nvGrpSpPr>
        <p:grpSpPr>
          <a:xfrm>
            <a:off x="0" y="2686781"/>
            <a:ext cx="830956" cy="2456718"/>
            <a:chOff x="0" y="7164750"/>
            <a:chExt cx="2215884" cy="6551248"/>
          </a:xfrm>
        </p:grpSpPr>
        <p:pic>
          <p:nvPicPr>
            <p:cNvPr id="646" name="Google Shape;646;p69" descr="Imagem"/>
            <p:cNvPicPr preferRelativeResize="0"/>
            <p:nvPr/>
          </p:nvPicPr>
          <p:blipFill rotWithShape="1">
            <a:blip r:embed="rId3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7" name="Google Shape;647;p69" descr="Image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8" name="Google Shape;648;p69"/>
          <p:cNvSpPr/>
          <p:nvPr/>
        </p:nvSpPr>
        <p:spPr>
          <a:xfrm>
            <a:off x="646275" y="19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9"/>
          <p:cNvSpPr txBox="1"/>
          <p:nvPr/>
        </p:nvSpPr>
        <p:spPr>
          <a:xfrm>
            <a:off x="1005425" y="164175"/>
            <a:ext cx="7644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Funil comercial sem relacionamento- comparação semanal de n.º de propostas - </a:t>
            </a:r>
            <a:r>
              <a:rPr lang="pt-B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Comparação com a mesma semana no mês passado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0" name="Google Shape;660;p70"/>
          <p:cNvGrpSpPr/>
          <p:nvPr/>
        </p:nvGrpSpPr>
        <p:grpSpPr>
          <a:xfrm>
            <a:off x="0" y="2686781"/>
            <a:ext cx="830956" cy="2456718"/>
            <a:chOff x="0" y="7164750"/>
            <a:chExt cx="2215884" cy="6551248"/>
          </a:xfrm>
        </p:grpSpPr>
        <p:pic>
          <p:nvPicPr>
            <p:cNvPr id="661" name="Google Shape;661;p70" descr="Imagem"/>
            <p:cNvPicPr preferRelativeResize="0"/>
            <p:nvPr/>
          </p:nvPicPr>
          <p:blipFill rotWithShape="1">
            <a:blip r:embed="rId3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2" name="Google Shape;662;p70" descr="Image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63" name="Google Shape;663;p70"/>
          <p:cNvSpPr/>
          <p:nvPr/>
        </p:nvSpPr>
        <p:spPr>
          <a:xfrm>
            <a:off x="646275" y="19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70"/>
          <p:cNvSpPr txBox="1"/>
          <p:nvPr/>
        </p:nvSpPr>
        <p:spPr>
          <a:xfrm>
            <a:off x="1005425" y="164175"/>
            <a:ext cx="7644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Funil comercial sem relacionamento- comparação semanal de n.º de propostas - </a:t>
            </a:r>
            <a:r>
              <a:rPr lang="pt-B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Comparação com a semana passada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71"/>
          <p:cNvSpPr txBox="1"/>
          <p:nvPr/>
        </p:nvSpPr>
        <p:spPr>
          <a:xfrm>
            <a:off x="961600" y="151325"/>
            <a:ext cx="7531500" cy="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Conversão das entradas de fase para o relacionamento</a:t>
            </a:r>
            <a:b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pt-B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Comparação com a mesma semana no mês passado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73" name="Google Shape;673;p71"/>
          <p:cNvSpPr/>
          <p:nvPr/>
        </p:nvSpPr>
        <p:spPr>
          <a:xfrm>
            <a:off x="587050" y="278250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71"/>
          <p:cNvSpPr txBox="1"/>
          <p:nvPr/>
        </p:nvSpPr>
        <p:spPr>
          <a:xfrm>
            <a:off x="4644200" y="26175"/>
            <a:ext cx="4423800" cy="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*Dados da % são referentes a oportunidades que entraram na fase, não necessariamente correspondem ao mesmo cohort</a:t>
            </a:r>
            <a:endParaRPr sz="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675" name="Google Shape;675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35465" y="4634325"/>
            <a:ext cx="576464" cy="215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6" name="Google Shape;676;p71"/>
          <p:cNvGrpSpPr/>
          <p:nvPr/>
        </p:nvGrpSpPr>
        <p:grpSpPr>
          <a:xfrm>
            <a:off x="0" y="2686781"/>
            <a:ext cx="830956" cy="2456718"/>
            <a:chOff x="0" y="7164750"/>
            <a:chExt cx="2215884" cy="6551248"/>
          </a:xfrm>
        </p:grpSpPr>
        <p:pic>
          <p:nvPicPr>
            <p:cNvPr id="677" name="Google Shape;677;p71" descr="Imagem"/>
            <p:cNvPicPr preferRelativeResize="0"/>
            <p:nvPr/>
          </p:nvPicPr>
          <p:blipFill rotWithShape="1">
            <a:blip r:embed="rId4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8" name="Google Shape;678;p71" descr="Imagem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79" name="Google Shape;679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37244" y="833525"/>
            <a:ext cx="5869517" cy="4157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2"/>
          <p:cNvSpPr txBox="1"/>
          <p:nvPr/>
        </p:nvSpPr>
        <p:spPr>
          <a:xfrm>
            <a:off x="961600" y="151325"/>
            <a:ext cx="7531500" cy="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Conversão das entradas de fase comercial</a:t>
            </a:r>
            <a:b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pt-B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Comparação com a mesma semana no mês passado</a:t>
            </a:r>
            <a:endParaRPr sz="20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85" name="Google Shape;685;p72"/>
          <p:cNvSpPr/>
          <p:nvPr/>
        </p:nvSpPr>
        <p:spPr>
          <a:xfrm>
            <a:off x="587050" y="278250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72"/>
          <p:cNvSpPr txBox="1"/>
          <p:nvPr/>
        </p:nvSpPr>
        <p:spPr>
          <a:xfrm>
            <a:off x="4644200" y="26175"/>
            <a:ext cx="4423800" cy="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*Dados da % são referentes a oportunidades que entraram na fase, não necessariamente correspondem ao mesmo cohort</a:t>
            </a:r>
            <a:endParaRPr sz="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687" name="Google Shape;687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35465" y="4634325"/>
            <a:ext cx="576464" cy="215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8" name="Google Shape;688;p72"/>
          <p:cNvGrpSpPr/>
          <p:nvPr/>
        </p:nvGrpSpPr>
        <p:grpSpPr>
          <a:xfrm>
            <a:off x="0" y="2686781"/>
            <a:ext cx="830956" cy="2456718"/>
            <a:chOff x="0" y="7164750"/>
            <a:chExt cx="2215884" cy="6551248"/>
          </a:xfrm>
        </p:grpSpPr>
        <p:pic>
          <p:nvPicPr>
            <p:cNvPr id="689" name="Google Shape;689;p72" descr="Imagem"/>
            <p:cNvPicPr preferRelativeResize="0"/>
            <p:nvPr/>
          </p:nvPicPr>
          <p:blipFill rotWithShape="1">
            <a:blip r:embed="rId4">
              <a:alphaModFix/>
            </a:blip>
            <a:srcRect l="82399" b="25645"/>
            <a:stretch/>
          </p:blipFill>
          <p:spPr>
            <a:xfrm>
              <a:off x="0" y="7164750"/>
              <a:ext cx="1556949" cy="6551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0" name="Google Shape;690;p72" descr="Imagem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08322" y="10816259"/>
              <a:ext cx="1507562" cy="150756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91" name="Google Shape;691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35356" y="759325"/>
            <a:ext cx="4783988" cy="4157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7" name="Google Shape;697;p73"/>
          <p:cNvGraphicFramePr/>
          <p:nvPr/>
        </p:nvGraphicFramePr>
        <p:xfrm>
          <a:off x="657038" y="63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{266DC17C-ED1A-4DE7-8401-A4E9825C67B9}</a:tableStyleId>
              </a:tblPr>
              <a:tblGrid>
                <a:gridCol w="459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/>
                        <a:t>Novos contratos efetivados em 2024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8" name="Google Shape;698;p73"/>
          <p:cNvSpPr/>
          <p:nvPr/>
        </p:nvSpPr>
        <p:spPr>
          <a:xfrm>
            <a:off x="578700" y="35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73"/>
          <p:cNvSpPr txBox="1"/>
          <p:nvPr/>
        </p:nvSpPr>
        <p:spPr>
          <a:xfrm>
            <a:off x="887250" y="319225"/>
            <a:ext cx="73695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Engenharia - Proporção de tipologias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00" name="Google Shape;700;p73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73"/>
          <p:cNvSpPr txBox="1"/>
          <p:nvPr/>
        </p:nvSpPr>
        <p:spPr>
          <a:xfrm>
            <a:off x="152400" y="1524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702" name="Google Shape;702;p73"/>
          <p:cNvGraphicFramePr/>
          <p:nvPr/>
        </p:nvGraphicFramePr>
        <p:xfrm>
          <a:off x="657038" y="63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{266DC17C-ED1A-4DE7-8401-A4E9825C67B9}</a:tableStyleId>
              </a:tblPr>
              <a:tblGrid>
                <a:gridCol w="459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03" name="Google Shape;70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0613" y="1712538"/>
            <a:ext cx="2657475" cy="150495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73"/>
          <p:cNvSpPr txBox="1"/>
          <p:nvPr/>
        </p:nvSpPr>
        <p:spPr>
          <a:xfrm>
            <a:off x="578700" y="4710475"/>
            <a:ext cx="506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*Fonte: SalesForce (17/01/2025)</a:t>
            </a:r>
            <a:endParaRPr sz="1200"/>
          </a:p>
        </p:txBody>
      </p:sp>
      <p:pic>
        <p:nvPicPr>
          <p:cNvPr id="705" name="Google Shape;70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025" y="1679838"/>
            <a:ext cx="5010150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74"/>
          <p:cNvSpPr/>
          <p:nvPr/>
        </p:nvSpPr>
        <p:spPr>
          <a:xfrm>
            <a:off x="578700" y="35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74"/>
          <p:cNvSpPr txBox="1"/>
          <p:nvPr/>
        </p:nvSpPr>
        <p:spPr>
          <a:xfrm>
            <a:off x="887250" y="319225"/>
            <a:ext cx="73695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Engenharia - Proporção de tipologias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3" name="Google Shape;713;p74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74"/>
          <p:cNvSpPr txBox="1"/>
          <p:nvPr/>
        </p:nvSpPr>
        <p:spPr>
          <a:xfrm>
            <a:off x="152400" y="1524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74"/>
          <p:cNvSpPr txBox="1"/>
          <p:nvPr/>
        </p:nvSpPr>
        <p:spPr>
          <a:xfrm>
            <a:off x="456600" y="4261375"/>
            <a:ext cx="5062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*Apenas laudos solicitados e já concluídos no mês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*Data-base considerando a solicitação/criação da demanda</a:t>
            </a:r>
            <a:endParaRPr sz="1200"/>
          </a:p>
        </p:txBody>
      </p:sp>
      <p:graphicFrame>
        <p:nvGraphicFramePr>
          <p:cNvPr id="716" name="Google Shape;716;p74"/>
          <p:cNvGraphicFramePr/>
          <p:nvPr/>
        </p:nvGraphicFramePr>
        <p:xfrm>
          <a:off x="657038" y="63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{266DC17C-ED1A-4DE7-8401-A4E9825C67B9}</a:tableStyleId>
              </a:tblPr>
              <a:tblGrid>
                <a:gridCol w="459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/>
                        <a:t>MARÇO/2026 (acumulado ao longo do mês)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17" name="Google Shape;71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6338" y="983488"/>
            <a:ext cx="3584687" cy="3176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750" y="1178425"/>
            <a:ext cx="3667505" cy="293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75"/>
          <p:cNvSpPr/>
          <p:nvPr/>
        </p:nvSpPr>
        <p:spPr>
          <a:xfrm>
            <a:off x="578700" y="35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75"/>
          <p:cNvSpPr txBox="1"/>
          <p:nvPr/>
        </p:nvSpPr>
        <p:spPr>
          <a:xfrm>
            <a:off x="887250" y="319225"/>
            <a:ext cx="73695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Engenharia - Implantação de imóveis horizontais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6" name="Google Shape;726;p75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75"/>
          <p:cNvSpPr txBox="1"/>
          <p:nvPr/>
        </p:nvSpPr>
        <p:spPr>
          <a:xfrm>
            <a:off x="152400" y="152400"/>
            <a:ext cx="933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728" name="Google Shape;728;p75"/>
          <p:cNvGraphicFramePr/>
          <p:nvPr/>
        </p:nvGraphicFramePr>
        <p:xfrm>
          <a:off x="657038" y="63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{266DC17C-ED1A-4DE7-8401-A4E9825C67B9}</a:tableStyleId>
              </a:tblPr>
              <a:tblGrid>
                <a:gridCol w="565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dk1"/>
                          </a:solidFill>
                        </a:rPr>
                        <a:t>MARÇO/2026</a:t>
                      </a:r>
                      <a:r>
                        <a:rPr lang="pt-BR" b="1"/>
                        <a:t> (acumulado ao longo do mês)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29" name="Google Shape;729;p75"/>
          <p:cNvSpPr txBox="1"/>
          <p:nvPr/>
        </p:nvSpPr>
        <p:spPr>
          <a:xfrm>
            <a:off x="3145875" y="4416325"/>
            <a:ext cx="2949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/>
              <a:t>*Laudos concluídos neste mês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/>
              <a:t>(independentemente da data de solicitação)</a:t>
            </a:r>
            <a:endParaRPr sz="1100"/>
          </a:p>
        </p:txBody>
      </p:sp>
      <p:pic>
        <p:nvPicPr>
          <p:cNvPr id="730" name="Google Shape;73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8013" y="1178425"/>
            <a:ext cx="122872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1000" y="1108950"/>
            <a:ext cx="3359037" cy="308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76"/>
          <p:cNvSpPr/>
          <p:nvPr/>
        </p:nvSpPr>
        <p:spPr>
          <a:xfrm>
            <a:off x="578700" y="35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76"/>
          <p:cNvSpPr txBox="1"/>
          <p:nvPr/>
        </p:nvSpPr>
        <p:spPr>
          <a:xfrm>
            <a:off x="887250" y="303000"/>
            <a:ext cx="73695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Engenharia - Distribuição de avaliações e absorção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39" name="Google Shape;739;p76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76"/>
          <p:cNvSpPr txBox="1"/>
          <p:nvPr/>
        </p:nvSpPr>
        <p:spPr>
          <a:xfrm>
            <a:off x="152400" y="152400"/>
            <a:ext cx="933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741" name="Google Shape;741;p76"/>
          <p:cNvGraphicFramePr/>
          <p:nvPr/>
        </p:nvGraphicFramePr>
        <p:xfrm>
          <a:off x="657038" y="63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{266DC17C-ED1A-4DE7-8401-A4E9825C67B9}</a:tableStyleId>
              </a:tblPr>
              <a:tblGrid>
                <a:gridCol w="526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dk1"/>
                          </a:solidFill>
                        </a:rPr>
                        <a:t>MARÇO/2026</a:t>
                      </a:r>
                      <a:r>
                        <a:rPr lang="pt-BR" b="1"/>
                        <a:t> (acumulado ao longo do mês)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2" name="Google Shape;742;p76"/>
          <p:cNvSpPr txBox="1"/>
          <p:nvPr/>
        </p:nvSpPr>
        <p:spPr>
          <a:xfrm>
            <a:off x="456600" y="4261375"/>
            <a:ext cx="5062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*Apenas laudos solicitados e já concluídos no mês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*Data-base considerando a solicitação/criação da demanda</a:t>
            </a:r>
            <a:endParaRPr sz="1200"/>
          </a:p>
        </p:txBody>
      </p:sp>
      <p:pic>
        <p:nvPicPr>
          <p:cNvPr id="743" name="Google Shape;74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9875" y="1262000"/>
            <a:ext cx="2405625" cy="269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600" y="1061275"/>
            <a:ext cx="4825719" cy="293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0" name="Google Shape;75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6501" y="0"/>
            <a:ext cx="522251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77"/>
          <p:cNvSpPr/>
          <p:nvPr/>
        </p:nvSpPr>
        <p:spPr>
          <a:xfrm>
            <a:off x="0" y="152400"/>
            <a:ext cx="9144000" cy="1281900"/>
          </a:xfrm>
          <a:prstGeom prst="rect">
            <a:avLst/>
          </a:prstGeom>
          <a:gradFill>
            <a:gsLst>
              <a:gs pos="0">
                <a:schemeClr val="lt1"/>
              </a:gs>
              <a:gs pos="68000">
                <a:schemeClr val="lt1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77"/>
          <p:cNvSpPr/>
          <p:nvPr/>
        </p:nvSpPr>
        <p:spPr>
          <a:xfrm>
            <a:off x="578700" y="35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77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77"/>
          <p:cNvSpPr txBox="1"/>
          <p:nvPr/>
        </p:nvSpPr>
        <p:spPr>
          <a:xfrm>
            <a:off x="152400" y="152400"/>
            <a:ext cx="933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77"/>
          <p:cNvSpPr txBox="1"/>
          <p:nvPr/>
        </p:nvSpPr>
        <p:spPr>
          <a:xfrm>
            <a:off x="5701100" y="4267700"/>
            <a:ext cx="304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/>
              <a:t>*Apenas laudos solicitados e já concluídos no mês</a:t>
            </a:r>
            <a:endParaRPr sz="1100"/>
          </a:p>
        </p:txBody>
      </p:sp>
      <p:sp>
        <p:nvSpPr>
          <p:cNvPr id="756" name="Google Shape;756;p77"/>
          <p:cNvSpPr txBox="1"/>
          <p:nvPr/>
        </p:nvSpPr>
        <p:spPr>
          <a:xfrm>
            <a:off x="5701099" y="17214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/>
              <a:t>Ranking de cidades com mais avaliações:</a:t>
            </a:r>
            <a:endParaRPr sz="1100"/>
          </a:p>
        </p:txBody>
      </p:sp>
      <p:graphicFrame>
        <p:nvGraphicFramePr>
          <p:cNvPr id="757" name="Google Shape;757;p77"/>
          <p:cNvGraphicFramePr/>
          <p:nvPr/>
        </p:nvGraphicFramePr>
        <p:xfrm>
          <a:off x="657038" y="63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{266DC17C-ED1A-4DE7-8401-A4E9825C67B9}</a:tableStyleId>
              </a:tblPr>
              <a:tblGrid>
                <a:gridCol w="515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8" name="Google Shape;758;p77"/>
          <p:cNvSpPr txBox="1"/>
          <p:nvPr/>
        </p:nvSpPr>
        <p:spPr>
          <a:xfrm>
            <a:off x="887250" y="319225"/>
            <a:ext cx="73695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Engenharia - Georreferenciamento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759" name="Google Shape;759;p77"/>
          <p:cNvGraphicFramePr/>
          <p:nvPr/>
        </p:nvGraphicFramePr>
        <p:xfrm>
          <a:off x="657038" y="63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{266DC17C-ED1A-4DE7-8401-A4E9825C67B9}</a:tableStyleId>
              </a:tblPr>
              <a:tblGrid>
                <a:gridCol w="526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dk1"/>
                          </a:solidFill>
                        </a:rPr>
                        <a:t>MARÇO/2026</a:t>
                      </a:r>
                      <a:r>
                        <a:rPr lang="pt-BR" b="1"/>
                        <a:t> (acumulado ao longo do mês)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60" name="Google Shape;760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3625" y="2029975"/>
            <a:ext cx="3562100" cy="223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125" y="2571825"/>
            <a:ext cx="1259225" cy="242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78"/>
          <p:cNvSpPr/>
          <p:nvPr/>
        </p:nvSpPr>
        <p:spPr>
          <a:xfrm>
            <a:off x="578700" y="35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78"/>
          <p:cNvSpPr txBox="1"/>
          <p:nvPr/>
        </p:nvSpPr>
        <p:spPr>
          <a:xfrm>
            <a:off x="887250" y="319225"/>
            <a:ext cx="73695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Decisões Jurídico Mensal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9" name="Google Shape;769;p78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78"/>
          <p:cNvSpPr txBox="1"/>
          <p:nvPr/>
        </p:nvSpPr>
        <p:spPr>
          <a:xfrm>
            <a:off x="152400" y="1524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1" name="Google Shape;77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64478"/>
            <a:ext cx="9143999" cy="2824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79"/>
          <p:cNvSpPr/>
          <p:nvPr/>
        </p:nvSpPr>
        <p:spPr>
          <a:xfrm>
            <a:off x="578700" y="35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79"/>
          <p:cNvSpPr txBox="1"/>
          <p:nvPr/>
        </p:nvSpPr>
        <p:spPr>
          <a:xfrm>
            <a:off x="975000" y="319225"/>
            <a:ext cx="73695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Produção Jurídico: Mensal 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779" name="Google Shape;779;p79" descr="Imagem"/>
          <p:cNvPicPr preferRelativeResize="0"/>
          <p:nvPr/>
        </p:nvPicPr>
        <p:blipFill rotWithShape="1">
          <a:blip r:embed="rId3">
            <a:alphaModFix/>
          </a:blip>
          <a:srcRect l="82399" b="25645"/>
          <a:stretch/>
        </p:blipFill>
        <p:spPr>
          <a:xfrm>
            <a:off x="0" y="2686781"/>
            <a:ext cx="583856" cy="245671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80" name="Google Shape;780;p79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{266DC17C-ED1A-4DE7-8401-A4E9825C67B9}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1" name="Google Shape;781;p79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{266DC17C-ED1A-4DE7-8401-A4E9825C67B9}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2" name="Google Shape;782;p79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{266DC17C-ED1A-4DE7-8401-A4E9825C67B9}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3" name="Google Shape;783;p79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{266DC17C-ED1A-4DE7-8401-A4E9825C67B9}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4" name="Google Shape;784;p79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{266DC17C-ED1A-4DE7-8401-A4E9825C67B9}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5" name="Google Shape;785;p79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{266DC17C-ED1A-4DE7-8401-A4E9825C67B9}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6" name="Google Shape;786;p79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{266DC17C-ED1A-4DE7-8401-A4E9825C67B9}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7" name="Google Shape;787;p79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{266DC17C-ED1A-4DE7-8401-A4E9825C67B9}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8" name="Google Shape;788;p79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{266DC17C-ED1A-4DE7-8401-A4E9825C67B9}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9" name="Google Shape;789;p79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{266DC17C-ED1A-4DE7-8401-A4E9825C67B9}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90" name="Google Shape;790;p79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{266DC17C-ED1A-4DE7-8401-A4E9825C67B9}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91" name="Google Shape;791;p79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{266DC17C-ED1A-4DE7-8401-A4E9825C67B9}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92" name="Google Shape;792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256" y="1005800"/>
            <a:ext cx="8166878" cy="398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80"/>
          <p:cNvSpPr/>
          <p:nvPr/>
        </p:nvSpPr>
        <p:spPr>
          <a:xfrm>
            <a:off x="578700" y="35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80"/>
          <p:cNvSpPr txBox="1"/>
          <p:nvPr/>
        </p:nvSpPr>
        <p:spPr>
          <a:xfrm>
            <a:off x="887250" y="319225"/>
            <a:ext cx="73695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Classificação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00" name="Google Shape;800;p80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80"/>
          <p:cNvSpPr txBox="1"/>
          <p:nvPr/>
        </p:nvSpPr>
        <p:spPr>
          <a:xfrm>
            <a:off x="152400" y="152400"/>
            <a:ext cx="933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2" name="Google Shape;80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25" y="713150"/>
            <a:ext cx="8951074" cy="427795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81"/>
          <p:cNvSpPr/>
          <p:nvPr/>
        </p:nvSpPr>
        <p:spPr>
          <a:xfrm>
            <a:off x="578700" y="35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81"/>
          <p:cNvSpPr txBox="1"/>
          <p:nvPr/>
        </p:nvSpPr>
        <p:spPr>
          <a:xfrm>
            <a:off x="356100" y="30975"/>
            <a:ext cx="42843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</a:t>
            </a:r>
            <a:r>
              <a:rPr lang="pt-BR" sz="1900" b="1"/>
              <a:t>Consolidado - Março</a:t>
            </a:r>
            <a:endParaRPr sz="1900" b="1"/>
          </a:p>
        </p:txBody>
      </p:sp>
      <p:sp>
        <p:nvSpPr>
          <p:cNvPr id="810" name="Google Shape;810;p81"/>
          <p:cNvSpPr txBox="1"/>
          <p:nvPr/>
        </p:nvSpPr>
        <p:spPr>
          <a:xfrm>
            <a:off x="504400" y="2435675"/>
            <a:ext cx="348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/>
              <a:t>Quantidade </a:t>
            </a:r>
            <a:endParaRPr sz="10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/>
              <a:t>     </a:t>
            </a:r>
            <a:endParaRPr sz="1000" b="1"/>
          </a:p>
        </p:txBody>
      </p:sp>
      <p:sp>
        <p:nvSpPr>
          <p:cNvPr id="811" name="Google Shape;811;p81"/>
          <p:cNvSpPr txBox="1"/>
          <p:nvPr/>
        </p:nvSpPr>
        <p:spPr>
          <a:xfrm>
            <a:off x="4857550" y="2229775"/>
            <a:ext cx="3748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/>
              <a:t>Valor</a:t>
            </a:r>
            <a:endParaRPr b="1"/>
          </a:p>
        </p:txBody>
      </p:sp>
      <p:graphicFrame>
        <p:nvGraphicFramePr>
          <p:cNvPr id="812" name="Google Shape;812;p81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{266DC17C-ED1A-4DE7-8401-A4E9825C67B9}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13" name="Google Shape;813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75" y="731275"/>
            <a:ext cx="4497500" cy="154817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14" name="Google Shape;814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2125" y="65350"/>
            <a:ext cx="4321675" cy="22141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15" name="Google Shape;815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125" y="2845375"/>
            <a:ext cx="4321675" cy="216442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16" name="Google Shape;816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5" y="2845375"/>
            <a:ext cx="4497500" cy="216442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82"/>
          <p:cNvSpPr/>
          <p:nvPr/>
        </p:nvSpPr>
        <p:spPr>
          <a:xfrm>
            <a:off x="578700" y="35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82"/>
          <p:cNvSpPr txBox="1"/>
          <p:nvPr/>
        </p:nvSpPr>
        <p:spPr>
          <a:xfrm>
            <a:off x="84875" y="0"/>
            <a:ext cx="69939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   </a:t>
            </a:r>
            <a:r>
              <a:rPr lang="pt-BR" sz="1900" b="1"/>
              <a:t>MARÇO - Período 23/03 a 27/03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/>
              <a:t>                                                                     </a:t>
            </a:r>
            <a:endParaRPr sz="1000"/>
          </a:p>
        </p:txBody>
      </p:sp>
      <p:pic>
        <p:nvPicPr>
          <p:cNvPr id="824" name="Google Shape;82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75" y="742550"/>
            <a:ext cx="8767901" cy="424465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829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86783" y="347"/>
            <a:ext cx="857102" cy="597015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83"/>
          <p:cNvSpPr/>
          <p:nvPr/>
        </p:nvSpPr>
        <p:spPr>
          <a:xfrm>
            <a:off x="578700" y="35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83"/>
          <p:cNvSpPr txBox="1"/>
          <p:nvPr/>
        </p:nvSpPr>
        <p:spPr>
          <a:xfrm>
            <a:off x="917275" y="319225"/>
            <a:ext cx="73695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Comercial Atacado - Pipeline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832" name="Google Shape;832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800663"/>
            <a:ext cx="8839199" cy="1542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84"/>
          <p:cNvSpPr/>
          <p:nvPr/>
        </p:nvSpPr>
        <p:spPr>
          <a:xfrm>
            <a:off x="592125" y="35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84"/>
          <p:cNvSpPr txBox="1"/>
          <p:nvPr/>
        </p:nvSpPr>
        <p:spPr>
          <a:xfrm>
            <a:off x="975000" y="319225"/>
            <a:ext cx="73695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Inadimplência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839" name="Google Shape;839;p84" descr="Image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5221" y="351460"/>
            <a:ext cx="565336" cy="5653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40" name="Google Shape;840;p84"/>
          <p:cNvGraphicFramePr/>
          <p:nvPr/>
        </p:nvGraphicFramePr>
        <p:xfrm>
          <a:off x="1349225" y="136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{266DC17C-ED1A-4DE7-8401-A4E9825C67B9}</a:tableStyleId>
              </a:tblPr>
              <a:tblGrid>
                <a:gridCol w="114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Abertura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26,18%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Mês anterior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26,04%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41" name="Google Shape;841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09675"/>
            <a:ext cx="8839199" cy="22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85"/>
          <p:cNvSpPr/>
          <p:nvPr/>
        </p:nvSpPr>
        <p:spPr>
          <a:xfrm>
            <a:off x="592125" y="35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85"/>
          <p:cNvSpPr txBox="1"/>
          <p:nvPr/>
        </p:nvSpPr>
        <p:spPr>
          <a:xfrm>
            <a:off x="975000" y="319225"/>
            <a:ext cx="73695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Inadimplência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848" name="Google Shape;848;p85" descr="Image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5221" y="351460"/>
            <a:ext cx="565336" cy="565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125" y="2891900"/>
            <a:ext cx="4005825" cy="215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825" y="807375"/>
            <a:ext cx="8074726" cy="208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86"/>
          <p:cNvSpPr/>
          <p:nvPr/>
        </p:nvSpPr>
        <p:spPr>
          <a:xfrm>
            <a:off x="578700" y="354475"/>
            <a:ext cx="243900" cy="243900"/>
          </a:xfrm>
          <a:prstGeom prst="roundRect">
            <a:avLst>
              <a:gd name="adj" fmla="val 16667"/>
            </a:avLst>
          </a:prstGeom>
          <a:solidFill>
            <a:srgbClr val="009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86"/>
          <p:cNvSpPr txBox="1"/>
          <p:nvPr/>
        </p:nvSpPr>
        <p:spPr>
          <a:xfrm>
            <a:off x="989763" y="283975"/>
            <a:ext cx="73695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Inadimplência Securitizadora Risco Bari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858" name="Google Shape;858;p86" descr="Image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5221" y="122860"/>
            <a:ext cx="565336" cy="565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1234825"/>
            <a:ext cx="8839201" cy="292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2828</Words>
  <Application>Microsoft Office PowerPoint</Application>
  <PresentationFormat>Apresentação na tela (16:9)</PresentationFormat>
  <Paragraphs>346</Paragraphs>
  <Slides>43</Slides>
  <Notes>43</Notes>
  <HiddenSlides>3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43</vt:i4>
      </vt:variant>
    </vt:vector>
  </HeadingPairs>
  <TitlesOfParts>
    <vt:vector size="52" baseType="lpstr">
      <vt:lpstr>Trebuchet MS</vt:lpstr>
      <vt:lpstr>Calibri</vt:lpstr>
      <vt:lpstr>IBM Plex Sans</vt:lpstr>
      <vt:lpstr>Helvetica Neue</vt:lpstr>
      <vt:lpstr>Arial</vt:lpstr>
      <vt:lpstr>Exo 2</vt:lpstr>
      <vt:lpstr>Roboto</vt:lpstr>
      <vt:lpstr>Simple Light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Charles Junio de Faria Silva</cp:lastModifiedBy>
  <cp:revision>3</cp:revision>
  <dcterms:modified xsi:type="dcterms:W3CDTF">2026-04-24T20:18:27Z</dcterms:modified>
</cp:coreProperties>
</file>